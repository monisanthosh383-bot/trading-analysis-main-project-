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9" r:id="rId5"/>
    <p:sldId id="266" r:id="rId6"/>
    <p:sldId id="259" r:id="rId7"/>
    <p:sldId id="263" r:id="rId8"/>
    <p:sldId id="268" r:id="rId9"/>
    <p:sldId id="260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64" r:id="rId25"/>
    <p:sldId id="265" r:id="rId26"/>
    <p:sldId id="27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30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606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65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24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45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211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97326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7737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9365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7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942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73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94670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02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4119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076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39133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8368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876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643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5836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40456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35313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3783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957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906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865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6685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055460"/>
            <a:ext cx="6527749" cy="7694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400" b="1" dirty="0">
                <a:solidFill>
                  <a:srgbClr val="F5F5F5"/>
                </a:solidFill>
                <a:latin typeface="Aptos"/>
              </a:rPr>
              <a:t>NIFTY 50 STOCK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22263"/>
            <a:ext cx="6825010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 dirty="0">
                <a:solidFill>
                  <a:srgbClr val="1E90FF"/>
                </a:solidFill>
                <a:latin typeface="Aptos"/>
              </a:rPr>
              <a:t>Trading Analytics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204971"/>
            <a:ext cx="5546054" cy="1234440"/>
          </a:xfrm>
          <a:prstGeom prst="roundRect">
            <a:avLst/>
          </a:prstGeom>
          <a:solidFill>
            <a:srgbClr val="1C1C1C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3453197"/>
            <a:ext cx="1494448" cy="3539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 dirty="0">
                <a:solidFill>
                  <a:srgbClr val="1E90FF"/>
                </a:solidFill>
                <a:latin typeface="Aptos"/>
              </a:rPr>
              <a:t>Project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22191"/>
            <a:ext cx="4480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 dirty="0">
                <a:solidFill>
                  <a:srgbClr val="F5F5F5"/>
                </a:solidFill>
                <a:latin typeface="Aptos"/>
              </a:rPr>
              <a:t>Stock performance • risk • valuation • trading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124" y="5801388"/>
            <a:ext cx="3216265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0" dirty="0">
                <a:solidFill>
                  <a:srgbClr val="B4B4B4"/>
                </a:solidFill>
                <a:latin typeface="Aptos"/>
              </a:rPr>
              <a:t>Prepared by Monika Srinivasan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"/>
              </a:rP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1398"/>
            <a:ext cx="4286045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 dirty="0">
                <a:solidFill>
                  <a:srgbClr val="B4B4B4"/>
                </a:solidFill>
                <a:latin typeface="Aptos"/>
              </a:rPr>
              <a:t>Business-oriented analysis of NIFTY 50 stock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94960" cy="448056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90FF"/>
                </a:solidFill>
                <a:latin typeface="Aptos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Analyze stock returns, volatility and trading activity.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Compare companies and sectors using common KPIs.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Identify high-return, high-volatility and high-volume stocks.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Present valuation indicators such as P/E, EPS and Price-to-Book.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Build an interactive 3-page Power BI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34440"/>
            <a:ext cx="5212080" cy="448056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508760"/>
            <a:ext cx="2286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90FF"/>
                </a:solidFill>
                <a:latin typeface="Aptos"/>
              </a:rPr>
              <a:t>Dataset Snapshot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057400"/>
            <a:ext cx="2011680" cy="868680"/>
          </a:xfrm>
          <a:prstGeom prst="roundRect">
            <a:avLst/>
          </a:prstGeom>
          <a:solidFill>
            <a:srgbClr val="2D2D2D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02552" y="2130552"/>
            <a:ext cx="18653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  <a:latin typeface="Aptos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2523744"/>
            <a:ext cx="186537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B4B4B4"/>
                </a:solidFill>
                <a:latin typeface="Aptos"/>
              </a:rPr>
              <a:t>Companies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057400"/>
            <a:ext cx="2011680" cy="868680"/>
          </a:xfrm>
          <a:prstGeom prst="roundRect">
            <a:avLst/>
          </a:prstGeom>
          <a:solidFill>
            <a:srgbClr val="2D2D2D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97112" y="2130552"/>
            <a:ext cx="18653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  <a:latin typeface="Aptos"/>
              </a:rPr>
              <a:t>7K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7112" y="2523744"/>
            <a:ext cx="186537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B4B4B4"/>
                </a:solidFill>
                <a:latin typeface="Aptos"/>
              </a:rPr>
              <a:t>Trading Days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3154680"/>
            <a:ext cx="2011680" cy="868680"/>
          </a:xfrm>
          <a:prstGeom prst="roundRect">
            <a:avLst/>
          </a:prstGeom>
          <a:solidFill>
            <a:srgbClr val="2D2D2D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02552" y="3227832"/>
            <a:ext cx="18653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  <a:latin typeface="Aptos"/>
              </a:rPr>
              <a:t>2T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3621024"/>
            <a:ext cx="186537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B4B4B4"/>
                </a:solidFill>
                <a:latin typeface="Aptos"/>
              </a:rPr>
              <a:t>Total Volume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3154680"/>
            <a:ext cx="2011680" cy="868680"/>
          </a:xfrm>
          <a:prstGeom prst="roundRect">
            <a:avLst/>
          </a:prstGeom>
          <a:solidFill>
            <a:srgbClr val="2D2D2D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97112" y="3227832"/>
            <a:ext cx="18653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  <a:latin typeface="Aptos"/>
              </a:rPr>
              <a:t>197T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3621024"/>
            <a:ext cx="186537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B4B4B4"/>
                </a:solidFill>
                <a:latin typeface="Aptos"/>
              </a:rPr>
              <a:t>Market Cap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523601"/>
            <a:ext cx="4234493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 dirty="0">
                <a:solidFill>
                  <a:srgbClr val="B4B4B4"/>
                </a:solidFill>
                <a:latin typeface="Aptos"/>
              </a:rPr>
              <a:t>The dataset combines company-level summary </a:t>
            </a:r>
            <a:endParaRPr lang="en-IN" sz="1500" dirty="0">
              <a:solidFill>
                <a:srgbClr val="B4B4B4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B4B4B4"/>
                </a:solidFill>
                <a:latin typeface="Aptos"/>
              </a:rPr>
              <a:t>statistics with daily historical stock observations.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"/>
              </a:rPr>
              <a:t>2. Data Structure &amp; Key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1398"/>
            <a:ext cx="5460084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 dirty="0">
                <a:solidFill>
                  <a:srgbClr val="B4B4B4"/>
                </a:solidFill>
                <a:latin typeface="Aptos"/>
              </a:rPr>
              <a:t>Two levels of analysis: company summary + daily market activity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49240" cy="493776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90FF"/>
                </a:solidFill>
                <a:latin typeface="Aptos"/>
              </a:rPr>
              <a:t>Company Summary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rPr dirty="0"/>
              <a:t>• Ticker, </a:t>
            </a:r>
            <a:r>
              <a:rPr dirty="0" err="1"/>
              <a:t>Company_Name</a:t>
            </a:r>
            <a:r>
              <a:rPr dirty="0"/>
              <a:t>, Sector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rPr dirty="0"/>
              <a:t>• Starting / Ending Price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rPr dirty="0"/>
              <a:t>• Total Return %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rPr dirty="0"/>
              <a:t>• Highest / Lowest Price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rPr dirty="0"/>
              <a:t>• Average Daily Volume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rPr dirty="0"/>
              <a:t>• Current Market Cap and P/E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rPr dirty="0"/>
              <a:t>• Volatility % and Total Dividends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349240" cy="493776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90FF"/>
                </a:solidFill>
                <a:latin typeface="Aptos"/>
              </a:rPr>
              <a:t>Daily Historical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Date, Ticker, Sector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Open, High, Low, Close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Volume and Dividend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Daily Return and 20D Volatility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MA_50 and market indicators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P/E, Forward P/E, PEG, P/B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EPS, Beta, 52-week High / 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C6C3E-7F6C-F070-8731-99C87FF28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B3E098-CEDD-22E8-DBFE-F92614E2F3F8}"/>
              </a:ext>
            </a:extLst>
          </p:cNvPr>
          <p:cNvSpPr txBox="1"/>
          <p:nvPr/>
        </p:nvSpPr>
        <p:spPr>
          <a:xfrm>
            <a:off x="594360" y="309890"/>
            <a:ext cx="3923062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2800" b="1" dirty="0">
                <a:solidFill>
                  <a:srgbClr val="F5F5F5"/>
                </a:solidFill>
                <a:latin typeface="Aptos"/>
              </a:rPr>
              <a:t>3. Problem Statements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8FE9FA-5577-7EC7-6F8F-DCECB681D271}"/>
              </a:ext>
            </a:extLst>
          </p:cNvPr>
          <p:cNvSpPr/>
          <p:nvPr/>
        </p:nvSpPr>
        <p:spPr>
          <a:xfrm>
            <a:off x="546197" y="1175657"/>
            <a:ext cx="11099605" cy="4661938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935B6-1333-810B-DBAB-D8449A9CFA7B}"/>
              </a:ext>
            </a:extLst>
          </p:cNvPr>
          <p:cNvSpPr txBox="1"/>
          <p:nvPr/>
        </p:nvSpPr>
        <p:spPr>
          <a:xfrm>
            <a:off x="1240971" y="1449996"/>
            <a:ext cx="435375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2000" b="1" dirty="0">
                <a:solidFill>
                  <a:srgbClr val="1E90FF"/>
                </a:solidFill>
                <a:latin typeface="Aptos"/>
              </a:rPr>
              <a:t>Business Questions to be Answered</a:t>
            </a:r>
            <a:endParaRPr sz="2000" b="1" dirty="0">
              <a:solidFill>
                <a:srgbClr val="1E90FF"/>
              </a:solidFill>
              <a:latin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224944-E026-11DD-1E04-7131EE7D4DD9}"/>
              </a:ext>
            </a:extLst>
          </p:cNvPr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84E579-441D-00BE-39F6-BA4789920EFF}"/>
              </a:ext>
            </a:extLst>
          </p:cNvPr>
          <p:cNvSpPr txBox="1"/>
          <p:nvPr/>
        </p:nvSpPr>
        <p:spPr>
          <a:xfrm>
            <a:off x="1240971" y="2107470"/>
            <a:ext cx="8784771" cy="28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BEBEB"/>
                </a:solidFill>
              </a:defRPr>
            </a:pPr>
            <a:r>
              <a:rPr sz="1700" dirty="0">
                <a:latin typeface="Aptos" panose="020B0004020202020204" pitchFamily="34" charset="0"/>
              </a:rPr>
              <a:t>• Which months have the highest and lowest trading volume?</a:t>
            </a:r>
          </a:p>
          <a:p>
            <a:pPr>
              <a:spcAft>
                <a:spcPts val="400"/>
              </a:spcAft>
              <a:defRPr sz="1300">
                <a:solidFill>
                  <a:srgbClr val="EBEBEB"/>
                </a:solidFill>
              </a:defRPr>
            </a:pPr>
            <a:r>
              <a:rPr sz="1700" dirty="0">
                <a:latin typeface="Aptos" panose="020B0004020202020204" pitchFamily="34" charset="0"/>
              </a:rPr>
              <a:t>• Which sectors show higher average returns?</a:t>
            </a:r>
          </a:p>
          <a:p>
            <a:pPr>
              <a:spcAft>
                <a:spcPts val="400"/>
              </a:spcAft>
              <a:defRPr sz="1300">
                <a:solidFill>
                  <a:srgbClr val="EBEBEB"/>
                </a:solidFill>
              </a:defRPr>
            </a:pPr>
            <a:r>
              <a:rPr sz="1700" dirty="0">
                <a:latin typeface="Aptos" panose="020B0004020202020204" pitchFamily="34" charset="0"/>
              </a:rPr>
              <a:t>• Which companies have the highest market capitalization?</a:t>
            </a:r>
          </a:p>
          <a:p>
            <a:pPr>
              <a:spcAft>
                <a:spcPts val="400"/>
              </a:spcAft>
              <a:defRPr sz="1300">
                <a:solidFill>
                  <a:srgbClr val="EBEBEB"/>
                </a:solidFill>
              </a:defRPr>
            </a:pPr>
            <a:r>
              <a:rPr sz="1700" dirty="0">
                <a:latin typeface="Aptos" panose="020B0004020202020204" pitchFamily="34" charset="0"/>
              </a:rPr>
              <a:t>• Which stocks have the highest total returns?</a:t>
            </a:r>
          </a:p>
          <a:p>
            <a:pPr>
              <a:spcAft>
                <a:spcPts val="400"/>
              </a:spcAft>
              <a:defRPr sz="1300">
                <a:solidFill>
                  <a:srgbClr val="EBEBEB"/>
                </a:solidFill>
              </a:defRPr>
            </a:pPr>
            <a:r>
              <a:rPr sz="1700" dirty="0">
                <a:latin typeface="Aptos" panose="020B0004020202020204" pitchFamily="34" charset="0"/>
              </a:rPr>
              <a:t>• Which stocks have the highest volatility?</a:t>
            </a:r>
          </a:p>
          <a:p>
            <a:pPr>
              <a:spcAft>
                <a:spcPts val="400"/>
              </a:spcAft>
              <a:defRPr sz="1300">
                <a:solidFill>
                  <a:srgbClr val="EBEBEB"/>
                </a:solidFill>
              </a:defRPr>
            </a:pPr>
            <a:r>
              <a:rPr sz="1700" dirty="0">
                <a:latin typeface="Aptos" panose="020B0004020202020204" pitchFamily="34" charset="0"/>
              </a:rPr>
              <a:t>• How do stock performance, risk, valuation and trading activity vary across companies and sectors?</a:t>
            </a:r>
          </a:p>
          <a:p>
            <a:pPr>
              <a:spcAft>
                <a:spcPts val="400"/>
              </a:spcAft>
              <a:defRPr sz="1300">
                <a:solidFill>
                  <a:srgbClr val="EBEBEB"/>
                </a:solidFill>
              </a:defRPr>
            </a:pPr>
            <a:r>
              <a:rPr sz="1700" dirty="0">
                <a:latin typeface="Aptos" panose="020B0004020202020204" pitchFamily="34" charset="0"/>
              </a:rPr>
              <a:t>• How can the stock market data be presented through an interactive dashboard for easier analysis?</a:t>
            </a:r>
          </a:p>
        </p:txBody>
      </p:sp>
    </p:spTree>
    <p:extLst>
      <p:ext uri="{BB962C8B-B14F-4D97-AF65-F5344CB8AC3E}">
        <p14:creationId xmlns:p14="http://schemas.microsoft.com/office/powerpoint/2010/main" val="1818110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"/>
              </a:rPr>
              <a:t>4. Data Cleaning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B4B4"/>
                </a:solidFill>
                <a:latin typeface="Aptos"/>
              </a:rPr>
              <a:t>Steps taken before building KPIs and dashboard visuals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12080" cy="196596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2704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90FF"/>
                </a:solidFill>
                <a:latin typeface="Aptos"/>
              </a:rPr>
              <a:t>Data Type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dirty="0">
                <a:solidFill>
                  <a:srgbClr val="F5F5F5"/>
                </a:solidFill>
                <a:latin typeface="Aptos"/>
              </a:rPr>
              <a:t>• Changed columns to suitable data types.
• Checked dates, numeric fields and categorical fields.
• Ensured values were ready for calculations and visuals.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25880"/>
            <a:ext cx="5212080" cy="196596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52704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90FF"/>
                </a:solidFill>
                <a:latin typeface="Aptos"/>
              </a:rPr>
              <a:t>Percentage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965960"/>
            <a:ext cx="475488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5F5"/>
                </a:solidFill>
                <a:latin typeface="Aptos"/>
              </a:rPr>
              <a:t>• Converted percentage-point values into usable percentage values.
• Created separate columns where required for correct display and analysis.
• Avoided applying percentage formatting twice.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03320"/>
            <a:ext cx="5212080" cy="196596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904487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90FF"/>
                </a:solidFill>
                <a:latin typeface="Aptos"/>
              </a:rPr>
              <a:t>Calculated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475488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5F5"/>
                </a:solidFill>
                <a:latin typeface="Aptos"/>
              </a:rPr>
              <a:t>• Created columns needed for analysis.
• Used calculated fields for risk classification and other dashboard analysis.
• Prepared data for KPI calculations.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03320"/>
            <a:ext cx="5212080" cy="196596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904487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90FF"/>
                </a:solidFill>
                <a:latin typeface="Aptos"/>
              </a:rPr>
              <a:t>Remove Unusable 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343400"/>
            <a:ext cx="475488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5F5"/>
                </a:solidFill>
                <a:latin typeface="Aptos"/>
              </a:rPr>
              <a:t>• Removed columns that did not contain usable analytical data.
• Example: MA_200 had blank values, so it was removed.
• Checked missing values and unusual values before visualization.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"/>
              </a:rPr>
              <a:t>5. Tools &amp; Analysis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5212080" cy="192024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90FF"/>
                </a:solidFill>
                <a:latin typeface="Aptos"/>
              </a:rPr>
              <a:t>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65033"/>
            <a:ext cx="4259692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 dirty="0">
                <a:solidFill>
                  <a:srgbClr val="F5F5F5"/>
                </a:solidFill>
                <a:latin typeface="Aptos"/>
              </a:rPr>
              <a:t>Dashboard design, interactive visuals, slicers and</a:t>
            </a:r>
            <a:endParaRPr lang="en-US" sz="1500" b="0" dirty="0">
              <a:solidFill>
                <a:srgbClr val="F5F5F5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F5F5F5"/>
                </a:solidFill>
                <a:latin typeface="Aptos"/>
              </a:rPr>
              <a:t> report pages.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5212080" cy="192024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90FF"/>
                </a:solidFill>
                <a:latin typeface="Aptos"/>
              </a:rPr>
              <a:t>DAX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265033"/>
            <a:ext cx="3833998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 dirty="0">
                <a:solidFill>
                  <a:srgbClr val="F5F5F5"/>
                </a:solidFill>
                <a:latin typeface="Aptos"/>
              </a:rPr>
              <a:t>Calculated measures and columns for KPIs, </a:t>
            </a:r>
            <a:endParaRPr lang="en-US" sz="1500" b="0" dirty="0">
              <a:solidFill>
                <a:srgbClr val="F5F5F5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F5F5F5"/>
                </a:solidFill>
                <a:latin typeface="Aptos"/>
              </a:rPr>
              <a:t>risk categories and display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49039"/>
            <a:ext cx="5212080" cy="192024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977639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90FF"/>
                </a:solidFill>
                <a:latin typeface="Aptos"/>
              </a:rPr>
              <a:t>Data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596753"/>
            <a:ext cx="3838551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 dirty="0">
                <a:solidFill>
                  <a:srgbClr val="F5F5F5"/>
                </a:solidFill>
                <a:latin typeface="Aptos"/>
              </a:rPr>
              <a:t>Checked data types, percentage formatting, </a:t>
            </a:r>
            <a:endParaRPr lang="en-US" sz="1500" b="0" dirty="0">
              <a:solidFill>
                <a:srgbClr val="F5F5F5"/>
              </a:solidFill>
              <a:latin typeface="Aptos"/>
            </a:endParaRPr>
          </a:p>
          <a:p>
            <a:pPr algn="l"/>
            <a:r>
              <a:rPr sz="1500" b="0">
                <a:solidFill>
                  <a:srgbClr val="F5F5F5"/>
                </a:solidFill>
                <a:latin typeface="Aptos"/>
              </a:rPr>
              <a:t>missing  </a:t>
            </a:r>
            <a:r>
              <a:rPr sz="1500" b="0" dirty="0">
                <a:solidFill>
                  <a:srgbClr val="F5F5F5"/>
                </a:solidFill>
                <a:latin typeface="Aptos"/>
              </a:rPr>
              <a:t>and outliers.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212080" cy="192024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3977639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90FF"/>
                </a:solidFill>
                <a:latin typeface="Aptos"/>
              </a:rPr>
              <a:t>Visual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596753"/>
            <a:ext cx="4182492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 dirty="0">
                <a:solidFill>
                  <a:srgbClr val="F5F5F5"/>
                </a:solidFill>
                <a:latin typeface="Aptos"/>
              </a:rPr>
              <a:t>Bar, line, </a:t>
            </a:r>
            <a:r>
              <a:rPr sz="1500" b="0" dirty="0" err="1">
                <a:solidFill>
                  <a:srgbClr val="F5F5F5"/>
                </a:solidFill>
                <a:latin typeface="Aptos"/>
              </a:rPr>
              <a:t>treemap</a:t>
            </a:r>
            <a:r>
              <a:rPr sz="1500" b="0" dirty="0">
                <a:solidFill>
                  <a:srgbClr val="F5F5F5"/>
                </a:solidFill>
                <a:latin typeface="Aptos"/>
              </a:rPr>
              <a:t>, donut and risk/return analysis</a:t>
            </a:r>
            <a:endParaRPr lang="en-US" sz="1500" b="0" dirty="0">
              <a:solidFill>
                <a:srgbClr val="F5F5F5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F5F5F5"/>
                </a:solidFill>
                <a:latin typeface="Aptos"/>
              </a:rPr>
              <a:t> for business interpretation.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09890"/>
            <a:ext cx="3551678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IN" sz="2800" b="1" dirty="0">
                <a:solidFill>
                  <a:srgbClr val="F5F5F5"/>
                </a:solidFill>
                <a:latin typeface="Aptos"/>
              </a:rPr>
              <a:t>6</a:t>
            </a:r>
            <a:r>
              <a:rPr sz="2800" b="1" dirty="0">
                <a:solidFill>
                  <a:srgbClr val="F5F5F5"/>
                </a:solidFill>
                <a:latin typeface="Aptos"/>
              </a:rPr>
              <a:t>. Key KPIs &amp; Visuals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1398"/>
            <a:ext cx="3794116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 dirty="0">
                <a:solidFill>
                  <a:srgbClr val="B4B4B4"/>
                </a:solidFill>
                <a:latin typeface="Aptos"/>
              </a:rPr>
              <a:t>What each dashboard section helps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257800" cy="123444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99032"/>
            <a:ext cx="1920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E90FF"/>
                </a:solidFill>
                <a:latin typeface="Aptos"/>
              </a:rP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3514" y="1719072"/>
            <a:ext cx="4663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 dirty="0">
                <a:solidFill>
                  <a:srgbClr val="F5F5F5"/>
                </a:solidFill>
                <a:latin typeface="Aptos"/>
              </a:rPr>
              <a:t>Total Return %, Average Daily Return and closing-price trends</a:t>
            </a:r>
            <a:endParaRPr lang="en-US" sz="1300" b="0" dirty="0">
              <a:solidFill>
                <a:srgbClr val="F5F5F5"/>
              </a:solidFill>
              <a:latin typeface="Aptos"/>
            </a:endParaRPr>
          </a:p>
          <a:p>
            <a:pPr algn="l"/>
            <a:r>
              <a:rPr sz="1300" b="0" dirty="0">
                <a:solidFill>
                  <a:srgbClr val="F5F5F5"/>
                </a:solidFill>
                <a:latin typeface="Aptos"/>
              </a:rPr>
              <a:t>show stock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34440"/>
            <a:ext cx="5257800" cy="123444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399032"/>
            <a:ext cx="1920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E90FF"/>
                </a:solidFill>
                <a:latin typeface="Aptos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719072"/>
            <a:ext cx="4663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 dirty="0">
                <a:solidFill>
                  <a:srgbClr val="F5F5F5"/>
                </a:solidFill>
                <a:latin typeface="Aptos"/>
              </a:rPr>
              <a:t>Volatility, Beta and Risk Category highlight differences in price</a:t>
            </a:r>
            <a:endParaRPr lang="en-US" sz="1300" b="0" dirty="0">
              <a:solidFill>
                <a:srgbClr val="F5F5F5"/>
              </a:solidFill>
              <a:latin typeface="Aptos"/>
            </a:endParaRPr>
          </a:p>
          <a:p>
            <a:pPr algn="l"/>
            <a:r>
              <a:rPr sz="1300" b="0" dirty="0">
                <a:solidFill>
                  <a:srgbClr val="F5F5F5"/>
                </a:solidFill>
                <a:latin typeface="Aptos"/>
              </a:rPr>
              <a:t>fluctuation and sensitivity.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34640"/>
            <a:ext cx="5257800" cy="123444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999232"/>
            <a:ext cx="1920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E90FF"/>
                </a:solidFill>
                <a:latin typeface="Aptos"/>
              </a:rPr>
              <a:t>Trading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24511"/>
            <a:ext cx="4227889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 dirty="0">
                <a:solidFill>
                  <a:srgbClr val="F5F5F5"/>
                </a:solidFill>
                <a:latin typeface="Aptos"/>
              </a:rPr>
              <a:t>Trading Volume and Monthly Volume Trend reveal market</a:t>
            </a:r>
            <a:endParaRPr lang="en-US" sz="1300" b="0" dirty="0">
              <a:solidFill>
                <a:srgbClr val="F5F5F5"/>
              </a:solidFill>
              <a:latin typeface="Aptos"/>
            </a:endParaRPr>
          </a:p>
          <a:p>
            <a:pPr algn="l"/>
            <a:r>
              <a:rPr sz="1300" b="0" dirty="0">
                <a:solidFill>
                  <a:srgbClr val="F5F5F5"/>
                </a:solidFill>
                <a:latin typeface="Aptos"/>
              </a:rPr>
              <a:t>activity and heavily traded stocks.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34640"/>
            <a:ext cx="5257800" cy="123444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999232"/>
            <a:ext cx="1920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E90FF"/>
                </a:solidFill>
                <a:latin typeface="Aptos"/>
              </a:rPr>
              <a:t>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324511"/>
            <a:ext cx="4418646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 dirty="0">
                <a:solidFill>
                  <a:srgbClr val="F5F5F5"/>
                </a:solidFill>
                <a:latin typeface="Aptos"/>
              </a:rPr>
              <a:t>P/E, EPS and Price-to-Book provide company valuation and </a:t>
            </a:r>
            <a:endParaRPr lang="en-US" sz="1300" b="0" dirty="0">
              <a:solidFill>
                <a:srgbClr val="F5F5F5"/>
              </a:solidFill>
              <a:latin typeface="Aptos"/>
            </a:endParaRPr>
          </a:p>
          <a:p>
            <a:pPr algn="l"/>
            <a:r>
              <a:rPr sz="1300" b="0" dirty="0">
                <a:solidFill>
                  <a:srgbClr val="F5F5F5"/>
                </a:solidFill>
                <a:latin typeface="Aptos"/>
              </a:rPr>
              <a:t>earnings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34840"/>
            <a:ext cx="5257800" cy="123444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599431"/>
            <a:ext cx="1920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E90FF"/>
                </a:solidFill>
                <a:latin typeface="Aptos"/>
              </a:rPr>
              <a:t>Dividends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24711"/>
            <a:ext cx="3777894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 dirty="0">
                <a:solidFill>
                  <a:srgbClr val="F5F5F5"/>
                </a:solidFill>
                <a:latin typeface="Aptos"/>
              </a:rPr>
              <a:t>Dividend contribution and dividend yield compare </a:t>
            </a:r>
            <a:endParaRPr lang="en-US" sz="1300" b="0" dirty="0">
              <a:solidFill>
                <a:srgbClr val="F5F5F5"/>
              </a:solidFill>
              <a:latin typeface="Aptos"/>
            </a:endParaRPr>
          </a:p>
          <a:p>
            <a:pPr algn="l"/>
            <a:r>
              <a:rPr sz="1300" b="0" dirty="0">
                <a:solidFill>
                  <a:srgbClr val="F5F5F5"/>
                </a:solidFill>
                <a:latin typeface="Aptos"/>
              </a:rPr>
              <a:t>income-oriented characteristics.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434840"/>
            <a:ext cx="5257800" cy="123444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4599431"/>
            <a:ext cx="1920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E90FF"/>
                </a:solidFill>
                <a:latin typeface="Aptos"/>
              </a:rPr>
              <a:t>Sector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24711"/>
            <a:ext cx="4343753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 dirty="0">
                <a:solidFill>
                  <a:srgbClr val="F5F5F5"/>
                </a:solidFill>
                <a:latin typeface="Aptos"/>
              </a:rPr>
              <a:t>Sector-level visuals make it easier to compare companies </a:t>
            </a:r>
            <a:endParaRPr lang="en-US" sz="1300" b="0" dirty="0">
              <a:solidFill>
                <a:srgbClr val="F5F5F5"/>
              </a:solidFill>
              <a:latin typeface="Aptos"/>
            </a:endParaRPr>
          </a:p>
          <a:p>
            <a:pPr algn="l"/>
            <a:r>
              <a:rPr sz="1300" b="0" dirty="0">
                <a:solidFill>
                  <a:srgbClr val="F5F5F5"/>
                </a:solidFill>
                <a:latin typeface="Aptos"/>
              </a:rPr>
              <a:t>across industries.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800" b="1" dirty="0">
                <a:solidFill>
                  <a:srgbClr val="F5F5F5"/>
                </a:solidFill>
                <a:latin typeface="Aptos"/>
              </a:rPr>
              <a:t>7</a:t>
            </a:r>
            <a:r>
              <a:rPr sz="2800" b="1" dirty="0">
                <a:solidFill>
                  <a:srgbClr val="F5F5F5"/>
                </a:solidFill>
                <a:latin typeface="Aptos"/>
              </a:rPr>
              <a:t>. Slicers &amp; Interactivity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B4B4B4"/>
                </a:solidFill>
                <a:latin typeface="Aptos"/>
              </a:rPr>
              <a:t>Filters used to make the Power BI dashboard interactive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12080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2704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1E90FF"/>
                </a:solidFill>
                <a:latin typeface="Aptos"/>
              </a:rPr>
              <a:t>Company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F5F5F5"/>
                </a:solidFill>
                <a:latin typeface="Aptos"/>
              </a:rPr>
              <a:t>Allows the user to select a particular company and focus the visuals on that company.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25880"/>
            <a:ext cx="5212080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52704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90FF"/>
                </a:solidFill>
                <a:latin typeface="Aptos"/>
              </a:rPr>
              <a:t>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965960"/>
            <a:ext cx="47548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Allows the user to filter the dashboard and analyze data for a selected year.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11880"/>
            <a:ext cx="5212080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1304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90FF"/>
                </a:solidFill>
                <a:latin typeface="Aptos"/>
              </a:rPr>
              <a:t>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47548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Allows the user to view trading activity and performance for a selected month.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611880"/>
            <a:ext cx="5212080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81304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90FF"/>
                </a:solidFill>
                <a:latin typeface="Aptos"/>
              </a:rPr>
              <a:t>Sector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251960"/>
            <a:ext cx="47548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Allows the user to compare companies and performance within a selected sector.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064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B4B4B4"/>
                </a:solidFill>
                <a:latin typeface="Aptos"/>
              </a:rPr>
              <a:t>These slicers help users interact with the dashboard and analyze the data from different perspectives.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09890"/>
            <a:ext cx="7372724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IN" sz="2800" b="1" dirty="0">
                <a:solidFill>
                  <a:srgbClr val="F5F5F5"/>
                </a:solidFill>
                <a:latin typeface="Aptos"/>
              </a:rPr>
              <a:t>8.Monthly Trading Volume Trend – Line Chart</a:t>
            </a:r>
            <a:endParaRPr sz="2800" b="1" dirty="0">
              <a:solidFill>
                <a:srgbClr val="F5F5F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5DCD-2E7D-895C-7E3C-D763BB1C8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514" y="1325879"/>
            <a:ext cx="6164744" cy="4051663"/>
          </a:xfrm>
          <a:prstGeom prst="rect">
            <a:avLst/>
          </a:prstGeom>
        </p:spPr>
      </p:pic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C690313-EEA2-90F7-0783-0FF8B6DF3A3C}"/>
              </a:ext>
            </a:extLst>
          </p:cNvPr>
          <p:cNvSpPr/>
          <p:nvPr/>
        </p:nvSpPr>
        <p:spPr>
          <a:xfrm>
            <a:off x="594360" y="1447024"/>
            <a:ext cx="4310743" cy="1741694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It shows how the </a:t>
            </a:r>
            <a:r>
              <a:rPr lang="en-IN" b="1" dirty="0"/>
              <a:t>total trading volume changes month by month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56A46DEB-9FF7-34F4-2C23-52C057082B85}"/>
              </a:ext>
            </a:extLst>
          </p:cNvPr>
          <p:cNvSpPr/>
          <p:nvPr/>
        </p:nvSpPr>
        <p:spPr>
          <a:xfrm>
            <a:off x="594359" y="3548742"/>
            <a:ext cx="4310743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 identify </a:t>
            </a:r>
            <a:r>
              <a:rPr lang="en-IN" b="1" dirty="0"/>
              <a:t>which months had higher or lower trading activity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5788ED-67CD-DA5B-08F9-AA853CB03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CA044-34EE-6ED9-BA22-D40C9079D386}"/>
              </a:ext>
            </a:extLst>
          </p:cNvPr>
          <p:cNvSpPr txBox="1"/>
          <p:nvPr/>
        </p:nvSpPr>
        <p:spPr>
          <a:xfrm>
            <a:off x="594360" y="309890"/>
            <a:ext cx="676627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800" b="1" dirty="0">
                <a:solidFill>
                  <a:srgbClr val="F5F5F5"/>
                </a:solidFill>
                <a:latin typeface="Aptos"/>
              </a:rPr>
              <a:t>9.</a:t>
            </a:r>
            <a:r>
              <a:rPr lang="en-IN" sz="2800" b="1" dirty="0">
                <a:solidFill>
                  <a:srgbClr val="F5F5F5"/>
                </a:solidFill>
                <a:latin typeface="Aptos"/>
              </a:rPr>
              <a:t>Sector-wise Average Return – Tree Map</a:t>
            </a:r>
            <a:endParaRPr lang="en-US" sz="2800" b="1" dirty="0">
              <a:solidFill>
                <a:srgbClr val="F5F5F5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F4C0C-7116-E987-F975-0FBAC9E4F8D3}"/>
              </a:ext>
            </a:extLst>
          </p:cNvPr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68876F69-9E29-FA4F-3581-B75951E30244}"/>
              </a:ext>
            </a:extLst>
          </p:cNvPr>
          <p:cNvSpPr/>
          <p:nvPr/>
        </p:nvSpPr>
        <p:spPr>
          <a:xfrm>
            <a:off x="594360" y="1447024"/>
            <a:ext cx="4310743" cy="1741694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It compares the </a:t>
            </a:r>
            <a:r>
              <a:rPr lang="en-IN" b="1" dirty="0"/>
              <a:t>average stock return across different sectors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C8B88396-3A47-E38B-B574-E1EA422E55AD}"/>
              </a:ext>
            </a:extLst>
          </p:cNvPr>
          <p:cNvSpPr/>
          <p:nvPr/>
        </p:nvSpPr>
        <p:spPr>
          <a:xfrm>
            <a:off x="594359" y="3548742"/>
            <a:ext cx="4310743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 understand </a:t>
            </a:r>
            <a:r>
              <a:rPr lang="en-IN" b="1" dirty="0"/>
              <a:t>which sectors performed better or lower based on average return</a:t>
            </a:r>
            <a:r>
              <a:rPr lang="en-IN" dirty="0"/>
              <a:t>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19D26D-C485-415C-32BC-7AFDE9D0E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284" y="1447024"/>
            <a:ext cx="6188476" cy="393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14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B48A3-D35A-5B00-E72F-661F52AF2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C644C0-4CFE-C261-598F-DD7B7EF91946}"/>
              </a:ext>
            </a:extLst>
          </p:cNvPr>
          <p:cNvSpPr txBox="1"/>
          <p:nvPr/>
        </p:nvSpPr>
        <p:spPr>
          <a:xfrm>
            <a:off x="594360" y="309890"/>
            <a:ext cx="8455072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800" b="1" dirty="0">
                <a:solidFill>
                  <a:srgbClr val="F5F5F5"/>
                </a:solidFill>
                <a:latin typeface="Aptos"/>
              </a:rPr>
              <a:t>10.</a:t>
            </a:r>
            <a:r>
              <a:rPr lang="en-IN" sz="2800" b="1" dirty="0">
                <a:solidFill>
                  <a:srgbClr val="F5F5F5"/>
                </a:solidFill>
                <a:latin typeface="Aptos"/>
              </a:rPr>
              <a:t>Top 5 Stocks by Market Capitalization - </a:t>
            </a:r>
            <a:r>
              <a:rPr lang="en-IN" sz="2800" b="1" dirty="0" err="1">
                <a:solidFill>
                  <a:srgbClr val="F5F5F5"/>
                </a:solidFill>
                <a:latin typeface="Aptos"/>
              </a:rPr>
              <a:t>BarChart</a:t>
            </a:r>
            <a:endParaRPr lang="en-US" sz="2800" b="1" dirty="0">
              <a:solidFill>
                <a:srgbClr val="F5F5F5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42844A-A76B-74C6-EE6A-CB17E2346521}"/>
              </a:ext>
            </a:extLst>
          </p:cNvPr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13DA773-DFB7-D2F2-D833-68A8F5FE0FC6}"/>
              </a:ext>
            </a:extLst>
          </p:cNvPr>
          <p:cNvSpPr/>
          <p:nvPr/>
        </p:nvSpPr>
        <p:spPr>
          <a:xfrm>
            <a:off x="594360" y="1447024"/>
            <a:ext cx="4310743" cy="1741694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It displays the </a:t>
            </a:r>
            <a:r>
              <a:rPr lang="en-IN" b="1" dirty="0"/>
              <a:t>five companies with the highest market capitalization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537EBA13-A1E0-BA2E-ABD3-97B731CE7182}"/>
              </a:ext>
            </a:extLst>
          </p:cNvPr>
          <p:cNvSpPr/>
          <p:nvPr/>
        </p:nvSpPr>
        <p:spPr>
          <a:xfrm>
            <a:off x="594359" y="3548742"/>
            <a:ext cx="4310743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 identify the companies with the </a:t>
            </a:r>
            <a:r>
              <a:rPr lang="en-IN" b="1" dirty="0"/>
              <a:t>largest market value</a:t>
            </a:r>
            <a:r>
              <a:rPr lang="en-IN" dirty="0"/>
              <a:t> in the dataset.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6B50A7-F939-BEAE-790D-750E3A4BC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255" y="1447025"/>
            <a:ext cx="5954485" cy="393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06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E454E3-FC54-D366-D7B3-F2F33CFA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063678-7638-F7F7-FFDA-D35BCBB20152}"/>
              </a:ext>
            </a:extLst>
          </p:cNvPr>
          <p:cNvSpPr txBox="1"/>
          <p:nvPr/>
        </p:nvSpPr>
        <p:spPr>
          <a:xfrm>
            <a:off x="594360" y="309890"/>
            <a:ext cx="7041864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800" b="1" dirty="0">
                <a:solidFill>
                  <a:srgbClr val="F5F5F5"/>
                </a:solidFill>
                <a:latin typeface="Aptos"/>
              </a:rPr>
              <a:t>11.</a:t>
            </a:r>
            <a:r>
              <a:rPr lang="en-IN" sz="2800" b="1" dirty="0">
                <a:solidFill>
                  <a:srgbClr val="F5F5F5"/>
                </a:solidFill>
                <a:latin typeface="Aptos"/>
              </a:rPr>
              <a:t>Top 5 Stocks by Total Return – Bar Chart</a:t>
            </a:r>
            <a:endParaRPr lang="en-US" sz="2800" b="1" dirty="0">
              <a:solidFill>
                <a:srgbClr val="F5F5F5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6A7E8C-E821-0626-53B0-F09EC350505C}"/>
              </a:ext>
            </a:extLst>
          </p:cNvPr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94B78AB6-CA0F-E606-1AFC-F2740CC5E429}"/>
              </a:ext>
            </a:extLst>
          </p:cNvPr>
          <p:cNvSpPr/>
          <p:nvPr/>
        </p:nvSpPr>
        <p:spPr>
          <a:xfrm>
            <a:off x="594360" y="1447024"/>
            <a:ext cx="4310743" cy="1741694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It shows the </a:t>
            </a:r>
            <a:r>
              <a:rPr lang="en-IN" b="1" dirty="0"/>
              <a:t>five companies with the highest total return</a:t>
            </a:r>
            <a:r>
              <a:rPr lang="en-IN" dirty="0"/>
              <a:t> during the selected period.</a:t>
            </a:r>
            <a:endParaRPr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855EEA7F-A6C5-0497-6385-829E93B2F756}"/>
              </a:ext>
            </a:extLst>
          </p:cNvPr>
          <p:cNvSpPr/>
          <p:nvPr/>
        </p:nvSpPr>
        <p:spPr>
          <a:xfrm>
            <a:off x="594359" y="3548742"/>
            <a:ext cx="4310743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 compare the historical return of different companies.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E31AC6-82FD-59AA-773F-4A9C4DA79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406" y="1447024"/>
            <a:ext cx="5780314" cy="393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650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03C5C-D7BE-06AF-1E14-A8452EE50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4CA708-B58A-9C52-B1FC-A25E7A43A421}"/>
              </a:ext>
            </a:extLst>
          </p:cNvPr>
          <p:cNvSpPr txBox="1"/>
          <p:nvPr/>
        </p:nvSpPr>
        <p:spPr>
          <a:xfrm>
            <a:off x="594360" y="309890"/>
            <a:ext cx="6796669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800" b="1" dirty="0">
                <a:solidFill>
                  <a:srgbClr val="F5F5F5"/>
                </a:solidFill>
                <a:latin typeface="Aptos"/>
              </a:rPr>
              <a:t>12.Top 5 Most Volatile Stocks – Bar Chart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58E588-B710-8A23-659D-206E1AC71DE0}"/>
              </a:ext>
            </a:extLst>
          </p:cNvPr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E155890C-896B-F13A-96EC-CE9FC8D098CA}"/>
              </a:ext>
            </a:extLst>
          </p:cNvPr>
          <p:cNvSpPr/>
          <p:nvPr/>
        </p:nvSpPr>
        <p:spPr>
          <a:xfrm>
            <a:off x="594360" y="1447024"/>
            <a:ext cx="4310743" cy="1741694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It shows the </a:t>
            </a:r>
            <a:r>
              <a:rPr lang="en-IN" b="1" dirty="0"/>
              <a:t>five stocks with the highest volatility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7383431C-4791-4870-5A0F-AA508197792A}"/>
              </a:ext>
            </a:extLst>
          </p:cNvPr>
          <p:cNvSpPr/>
          <p:nvPr/>
        </p:nvSpPr>
        <p:spPr>
          <a:xfrm>
            <a:off x="594359" y="3548742"/>
            <a:ext cx="4310743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 identify stocks whose prices showed </a:t>
            </a:r>
            <a:r>
              <a:rPr lang="en-IN" b="1" dirty="0"/>
              <a:t>larger fluctuations</a:t>
            </a:r>
            <a:r>
              <a:rPr lang="en-IN" dirty="0"/>
              <a:t>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36D9B4-11A1-6A5F-F944-0D8345878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057" y="1447024"/>
            <a:ext cx="6078583" cy="392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876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02DD72-2C29-6476-71CC-76164794D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CB03C3-2A20-454D-8B1B-4BB11E4BC5B6}"/>
              </a:ext>
            </a:extLst>
          </p:cNvPr>
          <p:cNvSpPr txBox="1"/>
          <p:nvPr/>
        </p:nvSpPr>
        <p:spPr>
          <a:xfrm>
            <a:off x="594360" y="309890"/>
            <a:ext cx="6906121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800" b="1" dirty="0">
                <a:solidFill>
                  <a:srgbClr val="F5F5F5"/>
                </a:solidFill>
                <a:latin typeface="Aptos"/>
              </a:rPr>
              <a:t>13.Open vs Close Price Trend – Line 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471B4E-2441-784D-393D-09CFAB60BF38}"/>
              </a:ext>
            </a:extLst>
          </p:cNvPr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5034DEF9-5F7E-BBAF-8FD3-47B98AE00640}"/>
              </a:ext>
            </a:extLst>
          </p:cNvPr>
          <p:cNvSpPr/>
          <p:nvPr/>
        </p:nvSpPr>
        <p:spPr>
          <a:xfrm>
            <a:off x="594360" y="1447024"/>
            <a:ext cx="4310743" cy="1741694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It compares the </a:t>
            </a:r>
            <a:r>
              <a:rPr lang="en-IN" b="1" dirty="0"/>
              <a:t>opening and closing prices</a:t>
            </a:r>
            <a:r>
              <a:rPr lang="en-IN" dirty="0"/>
              <a:t> of a stock over time.</a:t>
            </a:r>
            <a:endParaRPr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770F4DB9-DBE9-076B-C2D4-5F1482B1B8FD}"/>
              </a:ext>
            </a:extLst>
          </p:cNvPr>
          <p:cNvSpPr/>
          <p:nvPr/>
        </p:nvSpPr>
        <p:spPr>
          <a:xfrm>
            <a:off x="594359" y="3548742"/>
            <a:ext cx="4310743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 understand how the stock price </a:t>
            </a:r>
            <a:r>
              <a:rPr lang="en-IN" b="1" dirty="0"/>
              <a:t>moves during the selected period</a:t>
            </a:r>
            <a:r>
              <a:rPr lang="en-IN" dirty="0"/>
              <a:t>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526A3-81A3-1A49-5E60-474FDC6AA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943" y="1447024"/>
            <a:ext cx="6073753" cy="393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15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F7433D-9DEE-1A9B-9375-2CFFD527E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418B6D-DE6D-A960-6B13-E46D72FBF9F5}"/>
              </a:ext>
            </a:extLst>
          </p:cNvPr>
          <p:cNvSpPr txBox="1"/>
          <p:nvPr/>
        </p:nvSpPr>
        <p:spPr>
          <a:xfrm>
            <a:off x="594360" y="309890"/>
            <a:ext cx="6822573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800" b="1" dirty="0">
                <a:solidFill>
                  <a:srgbClr val="F5F5F5"/>
                </a:solidFill>
                <a:latin typeface="Aptos"/>
              </a:rPr>
              <a:t>13.Stock Closing Price Trend – Line 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6B2684-DB05-2B53-59EE-87A0A2D13866}"/>
              </a:ext>
            </a:extLst>
          </p:cNvPr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AB351DE-7014-D226-EA72-83883E83CE1C}"/>
              </a:ext>
            </a:extLst>
          </p:cNvPr>
          <p:cNvSpPr/>
          <p:nvPr/>
        </p:nvSpPr>
        <p:spPr>
          <a:xfrm>
            <a:off x="594360" y="1447024"/>
            <a:ext cx="4310743" cy="1741694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It compares the </a:t>
            </a:r>
            <a:r>
              <a:rPr lang="en-IN" b="1" dirty="0"/>
              <a:t>opening and closing prices</a:t>
            </a:r>
            <a:r>
              <a:rPr lang="en-IN" dirty="0"/>
              <a:t> of a stock over time.</a:t>
            </a:r>
            <a:endParaRPr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2ADE3CCC-7884-EC4A-F227-05475288384C}"/>
              </a:ext>
            </a:extLst>
          </p:cNvPr>
          <p:cNvSpPr/>
          <p:nvPr/>
        </p:nvSpPr>
        <p:spPr>
          <a:xfrm>
            <a:off x="594359" y="3548742"/>
            <a:ext cx="4310743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 understand how the stock price </a:t>
            </a:r>
            <a:r>
              <a:rPr lang="en-IN" b="1" dirty="0"/>
              <a:t>moves during the selected period</a:t>
            </a:r>
            <a:r>
              <a:rPr lang="en-IN" dirty="0"/>
              <a:t>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722170-140D-A581-0F02-12DEE69F9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943" y="1447024"/>
            <a:ext cx="6073753" cy="393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259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CB0690-D6BC-D96C-0A57-2FB90D72B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A9E7E5-F2FA-9FD6-9D3D-D72FBA0AF8B2}"/>
              </a:ext>
            </a:extLst>
          </p:cNvPr>
          <p:cNvSpPr txBox="1"/>
          <p:nvPr/>
        </p:nvSpPr>
        <p:spPr>
          <a:xfrm>
            <a:off x="594360" y="309890"/>
            <a:ext cx="6266203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800" b="1" dirty="0">
                <a:solidFill>
                  <a:srgbClr val="F5F5F5"/>
                </a:solidFill>
                <a:latin typeface="Aptos"/>
              </a:rPr>
              <a:t>14.</a:t>
            </a:r>
            <a:r>
              <a:rPr lang="en-IN" sz="2800" b="1" dirty="0">
                <a:solidFill>
                  <a:srgbClr val="F5F5F5"/>
                </a:solidFill>
                <a:latin typeface="Aptos"/>
              </a:rPr>
              <a:t>Average Beta by Sector – Bar Chart</a:t>
            </a:r>
            <a:endParaRPr lang="en-US" sz="2800" b="1" dirty="0">
              <a:solidFill>
                <a:srgbClr val="F5F5F5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DF1FF-436A-71CA-96E5-E0CFEB568B53}"/>
              </a:ext>
            </a:extLst>
          </p:cNvPr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B6A3607D-1192-0227-5D02-66B3545EBEA2}"/>
              </a:ext>
            </a:extLst>
          </p:cNvPr>
          <p:cNvSpPr/>
          <p:nvPr/>
        </p:nvSpPr>
        <p:spPr>
          <a:xfrm>
            <a:off x="594360" y="1447024"/>
            <a:ext cx="4310743" cy="1741694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It compares the </a:t>
            </a:r>
            <a:r>
              <a:rPr lang="en-IN" b="1" dirty="0"/>
              <a:t>average Beta of different sectors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850A897A-0677-B9A2-0AA6-5A75BE389A03}"/>
              </a:ext>
            </a:extLst>
          </p:cNvPr>
          <p:cNvSpPr/>
          <p:nvPr/>
        </p:nvSpPr>
        <p:spPr>
          <a:xfrm>
            <a:off x="594359" y="3548742"/>
            <a:ext cx="4310743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 understand how the stocks in different sectors </a:t>
            </a:r>
            <a:r>
              <a:rPr lang="en-IN" b="1" dirty="0"/>
              <a:t>move compared with the overall market</a:t>
            </a:r>
            <a:r>
              <a:rPr lang="en-IN" dirty="0"/>
              <a:t>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D1104F-A571-D976-4641-C97B7B867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744" y="1447024"/>
            <a:ext cx="5880976" cy="393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54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40111-4C20-6C1B-06E3-818FC861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510D0B-4A9D-FC28-C015-0DFF793066F3}"/>
              </a:ext>
            </a:extLst>
          </p:cNvPr>
          <p:cNvSpPr txBox="1"/>
          <p:nvPr/>
        </p:nvSpPr>
        <p:spPr>
          <a:xfrm>
            <a:off x="594360" y="309890"/>
            <a:ext cx="6890284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800" b="1" dirty="0">
                <a:solidFill>
                  <a:srgbClr val="F5F5F5"/>
                </a:solidFill>
                <a:latin typeface="Aptos"/>
              </a:rPr>
              <a:t>15.Stocks by Risk Category – Donut 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4EC01A-C179-1781-36A8-B084168E1E0B}"/>
              </a:ext>
            </a:extLst>
          </p:cNvPr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5A2D0393-9C89-A953-28D9-EB53C2C2F51C}"/>
              </a:ext>
            </a:extLst>
          </p:cNvPr>
          <p:cNvSpPr/>
          <p:nvPr/>
        </p:nvSpPr>
        <p:spPr>
          <a:xfrm>
            <a:off x="594360" y="1447024"/>
            <a:ext cx="4310743" cy="1741694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It divides stocks into </a:t>
            </a:r>
            <a:r>
              <a:rPr lang="en-IN" b="1" dirty="0"/>
              <a:t>Low Risk, Medium Risk and High Risk</a:t>
            </a:r>
            <a:r>
              <a:rPr lang="en-IN" dirty="0"/>
              <a:t> categories based on the volatility classification used in my project.</a:t>
            </a:r>
            <a:endParaRPr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B629B493-ADCF-7AF6-90D5-105BA9510365}"/>
              </a:ext>
            </a:extLst>
          </p:cNvPr>
          <p:cNvSpPr/>
          <p:nvPr/>
        </p:nvSpPr>
        <p:spPr>
          <a:xfrm>
            <a:off x="594359" y="3548742"/>
            <a:ext cx="4310743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 get a quick view of the </a:t>
            </a:r>
            <a:r>
              <a:rPr lang="en-IN" b="1" dirty="0"/>
              <a:t>risk distribution</a:t>
            </a:r>
            <a:r>
              <a:rPr lang="en-IN" dirty="0"/>
              <a:t> among the companies.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DDEBF0-7C50-9CB9-0E4B-B6037A57E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1447022"/>
            <a:ext cx="6138672" cy="393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237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A28CAC-5EB6-12F8-D345-773D76F20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C53B5B-D41A-CFAF-1408-5C3F682D818D}"/>
              </a:ext>
            </a:extLst>
          </p:cNvPr>
          <p:cNvSpPr txBox="1"/>
          <p:nvPr/>
        </p:nvSpPr>
        <p:spPr>
          <a:xfrm>
            <a:off x="594360" y="309890"/>
            <a:ext cx="8050858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800" b="1" dirty="0">
                <a:solidFill>
                  <a:srgbClr val="F5F5F5"/>
                </a:solidFill>
                <a:latin typeface="Aptos"/>
              </a:rPr>
              <a:t>16. Average Daily Return by Sector – Donut 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5F010-828C-D734-41AA-55746CCC8B9F}"/>
              </a:ext>
            </a:extLst>
          </p:cNvPr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E2A4A034-4D1F-0115-B324-3A890A2473DE}"/>
              </a:ext>
            </a:extLst>
          </p:cNvPr>
          <p:cNvSpPr/>
          <p:nvPr/>
        </p:nvSpPr>
        <p:spPr>
          <a:xfrm>
            <a:off x="594360" y="1447024"/>
            <a:ext cx="4310743" cy="1741694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It compares the </a:t>
            </a:r>
            <a:r>
              <a:rPr lang="en-IN" b="1" dirty="0"/>
              <a:t>average daily return of different sectors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E91FD7F-CA41-6A33-B76A-3B5B986AB178}"/>
              </a:ext>
            </a:extLst>
          </p:cNvPr>
          <p:cNvSpPr/>
          <p:nvPr/>
        </p:nvSpPr>
        <p:spPr>
          <a:xfrm>
            <a:off x="594359" y="3548742"/>
            <a:ext cx="4310743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 understand how daily stock performance differs across sectors.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B61484-A015-52A1-A293-DC867CA17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914" y="1447024"/>
            <a:ext cx="6517515" cy="393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252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18164C-00BD-6EE8-2BF9-D2CF9E00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0A414D-6B27-E227-4066-40EF20938F96}"/>
              </a:ext>
            </a:extLst>
          </p:cNvPr>
          <p:cNvSpPr txBox="1"/>
          <p:nvPr/>
        </p:nvSpPr>
        <p:spPr>
          <a:xfrm>
            <a:off x="594360" y="309890"/>
            <a:ext cx="7685117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800" b="1" dirty="0">
                <a:solidFill>
                  <a:srgbClr val="F5F5F5"/>
                </a:solidFill>
                <a:latin typeface="Aptos"/>
              </a:rPr>
              <a:t>17. Top 5 Stocks By Trading Volume – Bar 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5C573-66F0-3288-B222-2F48D2E0BAF0}"/>
              </a:ext>
            </a:extLst>
          </p:cNvPr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1E4AE075-61F5-2618-5B78-9297674AF362}"/>
              </a:ext>
            </a:extLst>
          </p:cNvPr>
          <p:cNvSpPr/>
          <p:nvPr/>
        </p:nvSpPr>
        <p:spPr>
          <a:xfrm>
            <a:off x="594360" y="1447024"/>
            <a:ext cx="4310743" cy="1741694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It displays the </a:t>
            </a:r>
            <a:r>
              <a:rPr lang="en-IN" b="1" dirty="0"/>
              <a:t>5 companies with the highest trading volume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992902DA-4220-CCF5-DF36-E47A209E4463}"/>
              </a:ext>
            </a:extLst>
          </p:cNvPr>
          <p:cNvSpPr/>
          <p:nvPr/>
        </p:nvSpPr>
        <p:spPr>
          <a:xfrm>
            <a:off x="594359" y="3548742"/>
            <a:ext cx="4310743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 identify the companies with </a:t>
            </a:r>
            <a:r>
              <a:rPr lang="en-IN" b="1" dirty="0"/>
              <a:t>higher trading activity</a:t>
            </a:r>
            <a:r>
              <a:rPr lang="en-IN" dirty="0"/>
              <a:t>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5A0E58-A9AB-4C99-47A9-91165ADFD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704" y="1538814"/>
            <a:ext cx="6392055" cy="383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807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D60A3-3040-ACD2-306E-8BA459B10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A3EDF8-8A78-5C07-A784-7813B294C514}"/>
              </a:ext>
            </a:extLst>
          </p:cNvPr>
          <p:cNvSpPr txBox="1"/>
          <p:nvPr/>
        </p:nvSpPr>
        <p:spPr>
          <a:xfrm>
            <a:off x="594360" y="309890"/>
            <a:ext cx="7598747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800" b="1" dirty="0">
                <a:solidFill>
                  <a:srgbClr val="F5F5F5"/>
                </a:solidFill>
                <a:latin typeface="Aptos"/>
              </a:rPr>
              <a:t>18. Average EPS Average by Sector – Bar 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02AE4A-D64E-6923-58C4-5B91D5DDBAD7}"/>
              </a:ext>
            </a:extLst>
          </p:cNvPr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83096450-1D6C-8F80-5F7C-1BDAC762E97F}"/>
              </a:ext>
            </a:extLst>
          </p:cNvPr>
          <p:cNvSpPr/>
          <p:nvPr/>
        </p:nvSpPr>
        <p:spPr>
          <a:xfrm>
            <a:off x="594360" y="1447024"/>
            <a:ext cx="4310743" cy="1741694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It compares the </a:t>
            </a:r>
            <a:r>
              <a:rPr lang="en-IN" b="1" dirty="0"/>
              <a:t>average Earnings Per Share across sectors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ECD0B4FF-4518-DFD2-0C88-9B4BFDF44887}"/>
              </a:ext>
            </a:extLst>
          </p:cNvPr>
          <p:cNvSpPr/>
          <p:nvPr/>
        </p:nvSpPr>
        <p:spPr>
          <a:xfrm>
            <a:off x="594359" y="3548742"/>
            <a:ext cx="4310743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EPS helps understand the </a:t>
            </a:r>
            <a:r>
              <a:rPr lang="en-IN" b="1" dirty="0"/>
              <a:t>earnings generated per share</a:t>
            </a:r>
            <a:r>
              <a:rPr lang="en-IN" dirty="0"/>
              <a:t>, so comparing it by sector gives a sector-level view of earnings.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CA06BC-2F0D-8BE2-B65D-D7479AE87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811" y="1447024"/>
            <a:ext cx="6380417" cy="393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854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F42B51-6111-F9D2-AB62-834FA5B1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4F8362-35B3-7C32-168B-6F856CCAD24C}"/>
              </a:ext>
            </a:extLst>
          </p:cNvPr>
          <p:cNvSpPr txBox="1"/>
          <p:nvPr/>
        </p:nvSpPr>
        <p:spPr>
          <a:xfrm>
            <a:off x="594360" y="309890"/>
            <a:ext cx="7551234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800" b="1" dirty="0">
                <a:solidFill>
                  <a:srgbClr val="F5F5F5"/>
                </a:solidFill>
                <a:latin typeface="Aptos"/>
              </a:rPr>
              <a:t>19. Market Capitalization by Sector - </a:t>
            </a:r>
            <a:r>
              <a:rPr lang="en-US" sz="2800" b="1" dirty="0" err="1">
                <a:solidFill>
                  <a:srgbClr val="F5F5F5"/>
                </a:solidFill>
                <a:latin typeface="Aptos"/>
              </a:rPr>
              <a:t>Treemap</a:t>
            </a:r>
            <a:endParaRPr lang="en-US" sz="2800" b="1" dirty="0">
              <a:solidFill>
                <a:srgbClr val="F5F5F5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320B2E-7BA1-10F5-8309-60531D721C73}"/>
              </a:ext>
            </a:extLst>
          </p:cNvPr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A17629E5-6696-F423-0A4D-AABA2E83E630}"/>
              </a:ext>
            </a:extLst>
          </p:cNvPr>
          <p:cNvSpPr/>
          <p:nvPr/>
        </p:nvSpPr>
        <p:spPr>
          <a:xfrm>
            <a:off x="594360" y="1447024"/>
            <a:ext cx="4310743" cy="1741694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It shows the </a:t>
            </a:r>
            <a:r>
              <a:rPr lang="en-IN" b="1" dirty="0"/>
              <a:t>total market capitalization contributed by each sector</a:t>
            </a:r>
            <a:r>
              <a:rPr lang="en-IN" dirty="0"/>
              <a:t>.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0F357195-E0DD-3CFB-11AE-D7FCC9B56487}"/>
              </a:ext>
            </a:extLst>
          </p:cNvPr>
          <p:cNvSpPr/>
          <p:nvPr/>
        </p:nvSpPr>
        <p:spPr>
          <a:xfrm>
            <a:off x="594359" y="3548742"/>
            <a:ext cx="4310743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 understand which sectors have a </a:t>
            </a:r>
            <a:r>
              <a:rPr lang="en-IN" b="1" dirty="0"/>
              <a:t>larger share of the total market capitalization</a:t>
            </a:r>
            <a:r>
              <a:rPr lang="en-IN" dirty="0"/>
              <a:t> in my dataset.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C5FA5C-FE4B-21D0-9809-9BB890BD2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086" y="1447024"/>
            <a:ext cx="6345554" cy="393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440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F8A42-0924-614C-B859-A7868A7D0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F6B4CB-A5DA-2009-640F-F51D28DDA024}"/>
              </a:ext>
            </a:extLst>
          </p:cNvPr>
          <p:cNvSpPr txBox="1"/>
          <p:nvPr/>
        </p:nvSpPr>
        <p:spPr>
          <a:xfrm>
            <a:off x="594360" y="309890"/>
            <a:ext cx="8277779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800" b="1" dirty="0">
                <a:solidFill>
                  <a:srgbClr val="F5F5F5"/>
                </a:solidFill>
                <a:latin typeface="Aptos"/>
              </a:rPr>
              <a:t>20. Dividend Contribution by Sector – Donut 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5A4829-1014-5E29-8F25-0BB4C2680C72}"/>
              </a:ext>
            </a:extLst>
          </p:cNvPr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640ECE81-B712-A6DB-4518-1EDDD0E856F6}"/>
              </a:ext>
            </a:extLst>
          </p:cNvPr>
          <p:cNvSpPr/>
          <p:nvPr/>
        </p:nvSpPr>
        <p:spPr>
          <a:xfrm>
            <a:off x="594360" y="1447024"/>
            <a:ext cx="4310743" cy="1741694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It shows the </a:t>
            </a:r>
            <a:r>
              <a:rPr lang="en-IN" b="1" dirty="0"/>
              <a:t>dividend contribution from different sectors</a:t>
            </a:r>
            <a:r>
              <a:rPr lang="en-IN" dirty="0"/>
              <a:t>.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3898F31-127F-B625-6DB7-F3D1CBF0F1E7}"/>
              </a:ext>
            </a:extLst>
          </p:cNvPr>
          <p:cNvSpPr/>
          <p:nvPr/>
        </p:nvSpPr>
        <p:spPr>
          <a:xfrm>
            <a:off x="594359" y="3548742"/>
            <a:ext cx="4310743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 understand how dividend payments are distributed across sectors.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E0901A-C714-030D-B03D-D304F25C6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202" y="1447024"/>
            <a:ext cx="6126438" cy="393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87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B7B70-4867-1D2E-A745-6819B54A2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D4FD89-0698-A1BA-0E9D-73D8CE9342DA}"/>
              </a:ext>
            </a:extLst>
          </p:cNvPr>
          <p:cNvSpPr txBox="1"/>
          <p:nvPr/>
        </p:nvSpPr>
        <p:spPr>
          <a:xfrm>
            <a:off x="594360" y="309890"/>
            <a:ext cx="7012945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800" b="1" dirty="0">
                <a:solidFill>
                  <a:srgbClr val="F5F5F5"/>
                </a:solidFill>
                <a:latin typeface="Aptos"/>
              </a:rPr>
              <a:t>21. Dividend Yield by Sector – Donut 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D3B71B-AC5D-53F8-88BD-158B894FF1F0}"/>
              </a:ext>
            </a:extLst>
          </p:cNvPr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2595502D-82CE-E064-6441-C3A6FEC5C22B}"/>
              </a:ext>
            </a:extLst>
          </p:cNvPr>
          <p:cNvSpPr/>
          <p:nvPr/>
        </p:nvSpPr>
        <p:spPr>
          <a:xfrm>
            <a:off x="594360" y="1447024"/>
            <a:ext cx="4310743" cy="1741694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It shows the </a:t>
            </a:r>
            <a:r>
              <a:rPr lang="en-IN" b="1" dirty="0"/>
              <a:t>average dividend yield across different sectors</a:t>
            </a:r>
            <a:r>
              <a:rPr lang="en-IN" dirty="0"/>
              <a:t>.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59D04701-ECB2-2E70-C5F0-1B8BE7150A83}"/>
              </a:ext>
            </a:extLst>
          </p:cNvPr>
          <p:cNvSpPr/>
          <p:nvPr/>
        </p:nvSpPr>
        <p:spPr>
          <a:xfrm>
            <a:off x="594359" y="3548742"/>
            <a:ext cx="4310743" cy="18288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 compare how dividend yield </a:t>
            </a:r>
            <a:r>
              <a:rPr lang="en-IN" b="1" dirty="0"/>
              <a:t>varies between sectors</a:t>
            </a:r>
            <a:r>
              <a:rPr lang="en-IN" dirty="0"/>
              <a:t>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B33EFA-AEB5-64B3-C56B-602C73272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392" y="1447025"/>
            <a:ext cx="5520608" cy="393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969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09890"/>
            <a:ext cx="7082901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 dirty="0">
                <a:solidFill>
                  <a:srgbClr val="F5F5F5"/>
                </a:solidFill>
                <a:latin typeface="Aptos"/>
              </a:rPr>
              <a:t>1</a:t>
            </a:r>
            <a:r>
              <a:rPr lang="en-US" sz="2800" b="1" dirty="0">
                <a:solidFill>
                  <a:srgbClr val="F5F5F5"/>
                </a:solidFill>
                <a:latin typeface="Aptos"/>
              </a:rPr>
              <a:t>1</a:t>
            </a:r>
            <a:r>
              <a:rPr sz="2800" b="1" dirty="0">
                <a:solidFill>
                  <a:srgbClr val="F5F5F5"/>
                </a:solidFill>
                <a:latin typeface="Aptos"/>
              </a:rPr>
              <a:t>. Data Preparation &amp; Important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1398"/>
            <a:ext cx="4146007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 dirty="0">
                <a:solidFill>
                  <a:srgbClr val="B4B4B4"/>
                </a:solidFill>
                <a:latin typeface="Aptos"/>
              </a:rPr>
              <a:t>Steps taken to keep the dashboard interpretable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972800" cy="48006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2412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Aptos"/>
              </a:defRPr>
            </a:pPr>
            <a:r>
              <a:t>• Percentage-point fields such as Volatility_% and Avg_Daily Return were handled carefully to avoid multiplying values by 100 twice.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Aptos"/>
              </a:defRPr>
            </a:pPr>
            <a:r>
              <a:t>• Beta is a ratio, so it is displayed without a % sign.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Aptos"/>
              </a:defRPr>
            </a:pPr>
            <a:r>
              <a:t>• MA_200 was removed from the dashboard because the available column had blank values.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Aptos"/>
              </a:defRPr>
            </a:pPr>
            <a:r>
              <a:t>• Risk categories were created from volatility: Low Risk &lt; 5%, Medium Risk 5–10%, High Risk &gt; 10%.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Aptos"/>
              </a:defRPr>
            </a:pPr>
            <a:r>
              <a:t>• Company-level KPIs are preferred for company comparisons, while daily fields are used for time-series visuals.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Aptos"/>
              </a:defRPr>
            </a:pPr>
            <a:r>
              <a:t>• Outlier values such as very high volatility are retained and visible because they are part of the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09890"/>
            <a:ext cx="262443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 dirty="0">
                <a:solidFill>
                  <a:srgbClr val="F5F5F5"/>
                </a:solidFill>
                <a:latin typeface="Aptos"/>
              </a:rPr>
              <a:t>1</a:t>
            </a:r>
            <a:r>
              <a:rPr lang="en-US" sz="2800" b="1" dirty="0">
                <a:solidFill>
                  <a:srgbClr val="F5F5F5"/>
                </a:solidFill>
                <a:latin typeface="Aptos"/>
              </a:rPr>
              <a:t>2</a:t>
            </a:r>
            <a:r>
              <a:rPr sz="2800" b="1" dirty="0">
                <a:solidFill>
                  <a:srgbClr val="F5F5F5"/>
                </a:solidFill>
                <a:latin typeface="Aptos"/>
              </a:rPr>
              <a:t>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1398"/>
            <a:ext cx="5668924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 dirty="0">
                <a:solidFill>
                  <a:srgbClr val="B4B4B4"/>
                </a:solidFill>
                <a:latin typeface="Aptos"/>
              </a:rPr>
              <a:t>A single interactive report covering performance, risk and 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10652760" cy="361188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1E90FF"/>
                </a:solidFill>
                <a:latin typeface="Aptos"/>
              </a:rPr>
              <a:t>Project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Aptos"/>
              </a:defRPr>
            </a:pPr>
            <a:r>
              <a:t>• Built a 3-page Power BI dashboard for NIFTY 50 stock analytics.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Aptos"/>
              </a:defRPr>
            </a:pPr>
            <a:r>
              <a:t>• Combined company-level and daily market information into a structured analysis.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Aptos"/>
              </a:defRPr>
            </a:pPr>
            <a:r>
              <a:t>• Used interactive slicers for Company, Year, Month and Sector.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Aptos"/>
              </a:defRPr>
            </a:pPr>
            <a:r>
              <a:t>• Created KPI cards and multiple visual types for easier comparison.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  <a:latin typeface="Aptos"/>
              </a:defRPr>
            </a:pPr>
            <a:r>
              <a:t>• Added risk classification and valuation/dividend analysis for deeper insights.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D4DA73-E649-A843-8152-979697A3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EBB08B-FADE-54B5-4EBD-4E29FC19E170}"/>
              </a:ext>
            </a:extLst>
          </p:cNvPr>
          <p:cNvSpPr/>
          <p:nvPr/>
        </p:nvSpPr>
        <p:spPr>
          <a:xfrm>
            <a:off x="769620" y="1692421"/>
            <a:ext cx="10652760" cy="361188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2E999C-8613-EFE3-0DCE-7DFC8312098C}"/>
              </a:ext>
            </a:extLst>
          </p:cNvPr>
          <p:cNvSpPr txBox="1"/>
          <p:nvPr/>
        </p:nvSpPr>
        <p:spPr>
          <a:xfrm>
            <a:off x="3949337" y="2270686"/>
            <a:ext cx="4293325" cy="63094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3500" b="1" dirty="0">
                <a:solidFill>
                  <a:srgbClr val="F5F5F5"/>
                </a:solidFill>
                <a:latin typeface="Aptos"/>
              </a:rPr>
              <a:t>Thank You</a:t>
            </a:r>
            <a:endParaRPr sz="3500" b="1" dirty="0">
              <a:solidFill>
                <a:srgbClr val="F5F5F5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8059D0-BD27-9B93-18D0-48091C0853A5}"/>
              </a:ext>
            </a:extLst>
          </p:cNvPr>
          <p:cNvSpPr txBox="1"/>
          <p:nvPr/>
        </p:nvSpPr>
        <p:spPr>
          <a:xfrm>
            <a:off x="3074672" y="3205862"/>
            <a:ext cx="6042654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1E90FF"/>
                </a:solidFill>
                <a:latin typeface="Aptos"/>
              </a:rPr>
              <a:t>Nifty 50 Stock Market Trading Analytics</a:t>
            </a:r>
            <a:endParaRPr sz="2300" b="1" dirty="0">
              <a:solidFill>
                <a:srgbClr val="1E90FF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03EDF-E7B7-1EA8-A7CF-762590AD6113}"/>
              </a:ext>
            </a:extLst>
          </p:cNvPr>
          <p:cNvSpPr txBox="1"/>
          <p:nvPr/>
        </p:nvSpPr>
        <p:spPr>
          <a:xfrm>
            <a:off x="4287882" y="4112459"/>
            <a:ext cx="361623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>
                <a:solidFill>
                  <a:srgbClr val="F5F5F5"/>
                </a:solidFill>
                <a:latin typeface="Aptos"/>
              </a:defRPr>
            </a:pPr>
            <a:r>
              <a:rPr lang="en-US" dirty="0"/>
              <a:t>Presented by Monika Srinivasan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121D14-8ED9-45B9-EE75-8632D442C0F2}"/>
              </a:ext>
            </a:extLst>
          </p:cNvPr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4B4B4"/>
                </a:solidFill>
                <a:latin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51348093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150</TotalTime>
  <Words>1470</Words>
  <Application>Microsoft Office PowerPoint</Application>
  <PresentationFormat>Widescreen</PresentationFormat>
  <Paragraphs>195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Arial</vt:lpstr>
      <vt:lpstr>Arial Nova Light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Monika S</cp:lastModifiedBy>
  <cp:revision>12</cp:revision>
  <dcterms:created xsi:type="dcterms:W3CDTF">2013-01-27T09:14:16Z</dcterms:created>
  <dcterms:modified xsi:type="dcterms:W3CDTF">2026-09-26T05:35:34Z</dcterms:modified>
  <cp:category/>
</cp:coreProperties>
</file>