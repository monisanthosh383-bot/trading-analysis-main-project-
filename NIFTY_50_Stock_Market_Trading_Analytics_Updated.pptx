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69" r:id="rId5"/>
    <p:sldId id="266" r:id="rId6"/>
    <p:sldId id="259" r:id="rId7"/>
    <p:sldId id="286" r:id="rId8"/>
    <p:sldId id="263" r:id="rId9"/>
    <p:sldId id="268" r:id="rId10"/>
    <p:sldId id="260" r:id="rId11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264" r:id="rId26"/>
    <p:sldId id="265" r:id="rId27"/>
    <p:sldId id="270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0304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2011680"/>
            <a:ext cx="11402568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132CA-3777-075A-ECC4-B9DEFA9B3CEB}"/>
              </a:ext>
            </a:extLst>
          </p:cNvPr>
          <p:cNvCxnSpPr>
            <a:cxnSpLocks/>
          </p:cNvCxnSpPr>
          <p:nvPr/>
        </p:nvCxnSpPr>
        <p:spPr>
          <a:xfrm flipH="1">
            <a:off x="394716" y="170483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9606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blipFill>
            <a:blip r:embed="rId2">
              <a:alphaModFix amt="70000"/>
            </a:blip>
            <a:stretch>
              <a:fillRect l="-2" t="-1" b="-19091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35AE1E4-9BA4-415B-370F-31BCBBC9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-1"/>
            <a:ext cx="6096000" cy="6857999"/>
          </a:xfrm>
          <a:gradFill>
            <a:gsLst>
              <a:gs pos="100000">
                <a:schemeClr val="bg2">
                  <a:alpha val="90000"/>
                </a:schemeClr>
              </a:gs>
              <a:gs pos="34000">
                <a:srgbClr val="061F7B">
                  <a:alpha val="5000"/>
                  <a:lumMod val="74000"/>
                </a:srgbClr>
              </a:gs>
              <a:gs pos="15000">
                <a:schemeClr val="accent1">
                  <a:lumMod val="75000"/>
                  <a:alpha val="0"/>
                </a:schemeClr>
              </a:gs>
            </a:gsLst>
            <a:lin ang="600000" scaled="0"/>
          </a:gradFill>
          <a:ln>
            <a:solidFill>
              <a:schemeClr val="tx1"/>
            </a:solidFill>
          </a:ln>
        </p:spPr>
        <p:txBody>
          <a:bodyPr lIns="1600200" tIns="822960" rIns="274320" bIns="457200" anchor="t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54B625A-114F-C2DE-F195-EF26EC052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2306" y="4231338"/>
            <a:ext cx="7189694" cy="2626661"/>
          </a:xfrm>
          <a:gradFill>
            <a:gsLst>
              <a:gs pos="63000">
                <a:schemeClr val="accent5">
                  <a:lumMod val="75000"/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69000"/>
                </a:schemeClr>
              </a:gs>
              <a:gs pos="13000">
                <a:schemeClr val="bg2">
                  <a:alpha val="0"/>
                </a:schemeClr>
              </a:gs>
            </a:gsLst>
            <a:lin ang="4200000" scaled="0"/>
          </a:gradFill>
        </p:spPr>
        <p:txBody>
          <a:bodyPr vert="horz" lIns="2743200" tIns="640080" rIns="45720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00" y="210312"/>
            <a:ext cx="1473201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164921" y="210312"/>
            <a:ext cx="2181351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7711" y="210312"/>
            <a:ext cx="448805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9652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A70A2D-6A6F-D8FD-B860-1F184E1B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33214"/>
            <a:ext cx="11631478" cy="1825674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95EA3D9-98A4-3891-668D-DF99CC18D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351226"/>
            <a:ext cx="7235954" cy="771276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4E1D7382-6629-2CE5-9CD1-12C42772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4D3FCD7-2C92-02D9-B65F-03119FF69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825B394-7F27-6399-8BDB-45CADE4F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14160-DA6E-9655-9294-6538F297B73D}"/>
              </a:ext>
            </a:extLst>
          </p:cNvPr>
          <p:cNvSpPr/>
          <p:nvPr/>
        </p:nvSpPr>
        <p:spPr>
          <a:xfrm rot="10800000">
            <a:off x="0" y="3432121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C29EB-3E43-F1FF-EB6B-9F5C908FFCC8}"/>
              </a:ext>
            </a:extLst>
          </p:cNvPr>
          <p:cNvSpPr/>
          <p:nvPr/>
        </p:nvSpPr>
        <p:spPr>
          <a:xfrm rot="16200000" flipH="1">
            <a:off x="5938634" y="-996853"/>
            <a:ext cx="1825034" cy="10681699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8249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-367222" y="367225"/>
            <a:ext cx="6866356" cy="6131909"/>
          </a:xfrm>
          <a:prstGeom prst="rect">
            <a:avLst/>
          </a:prstGeom>
          <a:gradFill>
            <a:gsLst>
              <a:gs pos="13000">
                <a:schemeClr val="accent2"/>
              </a:gs>
              <a:gs pos="60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5400000" flipV="1">
            <a:off x="-1977949" y="2307330"/>
            <a:ext cx="6528619" cy="257271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42000">
                <a:schemeClr val="bg2"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AFF5B4-F60C-7639-0259-DAA1F9833429}"/>
              </a:ext>
            </a:extLst>
          </p:cNvPr>
          <p:cNvSpPr/>
          <p:nvPr/>
        </p:nvSpPr>
        <p:spPr>
          <a:xfrm rot="10800000">
            <a:off x="1" y="4216109"/>
            <a:ext cx="8887299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49000">
                <a:schemeClr val="accent4">
                  <a:lumMod val="75000"/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8499" y="952500"/>
            <a:ext cx="8887299" cy="5636798"/>
          </a:xfrm>
        </p:spPr>
        <p:txBody>
          <a:bodyPr anchor="b">
            <a:normAutofit/>
          </a:bodyPr>
          <a:lstStyle>
            <a:lvl1pPr algn="r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A76BF-5E58-9143-643F-6B06864B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6C9F8B-DAAC-4FD9-5257-842E1B079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F8E261-B260-D169-5279-F4153543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6451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>
            <a:off x="28450" y="0"/>
            <a:ext cx="7600185" cy="6858000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0" y="3409447"/>
            <a:ext cx="7609635" cy="3448553"/>
          </a:xfrm>
          <a:prstGeom prst="rect">
            <a:avLst/>
          </a:prstGeom>
          <a:gradFill>
            <a:gsLst>
              <a:gs pos="0">
                <a:schemeClr val="accent2"/>
              </a:gs>
              <a:gs pos="45000">
                <a:schemeClr val="bg2">
                  <a:alpha val="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5B7E4-5668-20C3-5FFF-AA7F08736507}"/>
              </a:ext>
            </a:extLst>
          </p:cNvPr>
          <p:cNvSpPr/>
          <p:nvPr/>
        </p:nvSpPr>
        <p:spPr>
          <a:xfrm rot="16200000">
            <a:off x="394816" y="-375817"/>
            <a:ext cx="6858000" cy="7609635"/>
          </a:xfrm>
          <a:prstGeom prst="rect">
            <a:avLst/>
          </a:prstGeom>
          <a:gradFill>
            <a:gsLst>
              <a:gs pos="0">
                <a:schemeClr val="tx1"/>
              </a:gs>
              <a:gs pos="18000">
                <a:schemeClr val="accent3">
                  <a:lumMod val="60000"/>
                  <a:lumOff val="40000"/>
                  <a:alpha val="72000"/>
                </a:schemeClr>
              </a:gs>
              <a:gs pos="56000">
                <a:schemeClr val="accent1">
                  <a:lumMod val="50000"/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8344FF-8882-8B2E-4777-40771425C01A}"/>
              </a:ext>
            </a:extLst>
          </p:cNvPr>
          <p:cNvSpPr/>
          <p:nvPr/>
        </p:nvSpPr>
        <p:spPr>
          <a:xfrm rot="16200000">
            <a:off x="1188613" y="417977"/>
            <a:ext cx="5518112" cy="7361933"/>
          </a:xfrm>
          <a:prstGeom prst="rect">
            <a:avLst/>
          </a:prstGeom>
          <a:gradFill flip="none" rotWithShape="1">
            <a:gsLst>
              <a:gs pos="24000">
                <a:schemeClr val="bg2">
                  <a:alpha val="0"/>
                </a:schemeClr>
              </a:gs>
              <a:gs pos="45000">
                <a:schemeClr val="bg2">
                  <a:alpha val="82000"/>
                </a:schemeClr>
              </a:gs>
              <a:gs pos="67000">
                <a:schemeClr val="bg1">
                  <a:alpha val="0"/>
                </a:schemeClr>
              </a:gs>
            </a:gsLst>
            <a:lin ang="1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F9BCED7-6A0B-12F0-730B-5623879C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2" y="1714498"/>
            <a:ext cx="4960617" cy="4722876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14FBD3E-3A09-5EF4-6941-FFF3E03D53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62D8C0B-F931-385E-61C9-0E7226053F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909368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7E96BDD-FAA3-3ABD-453F-3A62D97801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52232" y="1246951"/>
            <a:ext cx="3404277" cy="4923185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086C0A-2B9C-7A1D-5F77-AF7402CC1F84}"/>
              </a:ext>
            </a:extLst>
          </p:cNvPr>
          <p:cNvCxnSpPr>
            <a:cxnSpLocks/>
          </p:cNvCxnSpPr>
          <p:nvPr/>
        </p:nvCxnSpPr>
        <p:spPr>
          <a:xfrm flipH="1">
            <a:off x="8002560" y="762000"/>
            <a:ext cx="3840480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211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84410D4-C581-C48F-5E1D-E93DA884342F}"/>
              </a:ext>
            </a:extLst>
          </p:cNvPr>
          <p:cNvSpPr/>
          <p:nvPr/>
        </p:nvSpPr>
        <p:spPr>
          <a:xfrm rot="10800000">
            <a:off x="14619" y="-2"/>
            <a:ext cx="12177379" cy="4492404"/>
          </a:xfrm>
          <a:prstGeom prst="rect">
            <a:avLst/>
          </a:prstGeom>
          <a:gradFill flip="none" rotWithShape="1">
            <a:gsLst>
              <a:gs pos="33000">
                <a:schemeClr val="bg2">
                  <a:alpha val="0"/>
                </a:schemeClr>
              </a:gs>
              <a:gs pos="82000">
                <a:schemeClr val="accent1">
                  <a:lumMod val="50000"/>
                  <a:alpha val="44000"/>
                </a:schemeClr>
              </a:gs>
              <a:gs pos="100000">
                <a:schemeClr val="accent3">
                  <a:lumMod val="60000"/>
                  <a:lumOff val="40000"/>
                  <a:alpha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723903" y="1161955"/>
            <a:ext cx="11468097" cy="3330447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27000">
                <a:schemeClr val="bg2">
                  <a:alpha val="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 rot="10800000">
            <a:off x="-14621" y="-7466"/>
            <a:ext cx="6110621" cy="2500409"/>
          </a:xfrm>
          <a:prstGeom prst="rect">
            <a:avLst/>
          </a:prstGeom>
          <a:gradFill flip="none" rotWithShape="1"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D63E47-B71F-605F-2462-F6F2ED4F1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468924"/>
            <a:ext cx="5096176" cy="2461308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9100" y="210114"/>
            <a:ext cx="2064089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77000" y="210114"/>
            <a:ext cx="325150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7383" y="1161955"/>
            <a:ext cx="4158158" cy="276827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B8CAF0-3749-D1CF-0FDA-20F4B5EE98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4492402"/>
            <a:ext cx="12192000" cy="2365597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6973260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28AA25-2696-95B5-3DD1-1DDCE335B96E}"/>
              </a:ext>
            </a:extLst>
          </p:cNvPr>
          <p:cNvSpPr/>
          <p:nvPr/>
        </p:nvSpPr>
        <p:spPr>
          <a:xfrm>
            <a:off x="0" y="0"/>
            <a:ext cx="12192000" cy="6869579"/>
          </a:xfrm>
          <a:prstGeom prst="rect">
            <a:avLst/>
          </a:prstGeom>
          <a:gradFill flip="none" rotWithShape="1">
            <a:gsLst>
              <a:gs pos="23000">
                <a:schemeClr val="bg2">
                  <a:alpha val="0"/>
                </a:schemeClr>
              </a:gs>
              <a:gs pos="61000">
                <a:schemeClr val="accent1">
                  <a:lumMod val="50000"/>
                  <a:alpha val="5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6450F3-50BF-885C-FD60-BACC77C3F1E0}"/>
              </a:ext>
            </a:extLst>
          </p:cNvPr>
          <p:cNvSpPr/>
          <p:nvPr/>
        </p:nvSpPr>
        <p:spPr>
          <a:xfrm flipH="1" flipV="1">
            <a:off x="0" y="1727456"/>
            <a:ext cx="12192001" cy="5130541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45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53C05B-A90A-250E-CBC3-E741A87656D9}"/>
              </a:ext>
            </a:extLst>
          </p:cNvPr>
          <p:cNvSpPr/>
          <p:nvPr/>
        </p:nvSpPr>
        <p:spPr>
          <a:xfrm rot="5400000">
            <a:off x="4285048" y="-1037373"/>
            <a:ext cx="6869579" cy="8944324"/>
          </a:xfrm>
          <a:prstGeom prst="rect">
            <a:avLst/>
          </a:prstGeom>
          <a:gradFill flip="none" rotWithShape="1">
            <a:gsLst>
              <a:gs pos="60000">
                <a:schemeClr val="accent5">
                  <a:alpha val="0"/>
                </a:schemeClr>
              </a:gs>
              <a:gs pos="94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B1BC43-B272-D419-E8BB-6EFDB7CB6DE6}"/>
              </a:ext>
            </a:extLst>
          </p:cNvPr>
          <p:cNvSpPr/>
          <p:nvPr/>
        </p:nvSpPr>
        <p:spPr>
          <a:xfrm rot="16200000">
            <a:off x="3586718" y="-681705"/>
            <a:ext cx="6783165" cy="8296238"/>
          </a:xfrm>
          <a:prstGeom prst="rect">
            <a:avLst/>
          </a:prstGeom>
          <a:gradFill flip="none" rotWithShape="1">
            <a:gsLst>
              <a:gs pos="26000">
                <a:schemeClr val="bg2"/>
              </a:gs>
              <a:gs pos="73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9B18E3-016A-6508-4AB9-C1B35F40CE8C}"/>
              </a:ext>
            </a:extLst>
          </p:cNvPr>
          <p:cNvCxnSpPr>
            <a:cxnSpLocks/>
          </p:cNvCxnSpPr>
          <p:nvPr/>
        </p:nvCxnSpPr>
        <p:spPr>
          <a:xfrm flipH="1">
            <a:off x="394716" y="6101080"/>
            <a:ext cx="11402568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44A4757-EA69-EF77-262C-A183AC218312}"/>
              </a:ext>
            </a:extLst>
          </p:cNvPr>
          <p:cNvSpPr/>
          <p:nvPr/>
        </p:nvSpPr>
        <p:spPr>
          <a:xfrm rot="10800000">
            <a:off x="0" y="1"/>
            <a:ext cx="12192000" cy="5281424"/>
          </a:xfrm>
          <a:prstGeom prst="rect">
            <a:avLst/>
          </a:prstGeom>
          <a:gradFill flip="none" rotWithShape="1">
            <a:gsLst>
              <a:gs pos="52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14400"/>
            <a:ext cx="7498080" cy="2621280"/>
          </a:xfrm>
        </p:spPr>
        <p:txBody>
          <a:bodyPr anchor="b">
            <a:normAutofit/>
          </a:bodyPr>
          <a:lstStyle>
            <a:lvl1pPr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AD86-30C4-61DF-3300-53A4A4BB6D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ED380-F3FA-F88A-4719-014588A2E1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F7C8-EA2A-EA2C-5113-86B95AACB1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901440"/>
            <a:ext cx="7498080" cy="1828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77379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B42C01-B12A-AF17-D0E9-403E14D1D1A7}"/>
              </a:ext>
            </a:extLst>
          </p:cNvPr>
          <p:cNvSpPr/>
          <p:nvPr/>
        </p:nvSpPr>
        <p:spPr>
          <a:xfrm rot="10800000" flipH="1">
            <a:off x="391802" y="773848"/>
            <a:ext cx="11800198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5">
                  <a:lumMod val="75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4AA29D-41E7-06F1-DA88-95401F827C71}"/>
              </a:ext>
            </a:extLst>
          </p:cNvPr>
          <p:cNvSpPr/>
          <p:nvPr/>
        </p:nvSpPr>
        <p:spPr>
          <a:xfrm rot="10800000" flipH="1">
            <a:off x="0" y="773847"/>
            <a:ext cx="11026588" cy="1634270"/>
          </a:xfrm>
          <a:prstGeom prst="rect">
            <a:avLst/>
          </a:prstGeom>
          <a:gradFill flip="none" rotWithShape="1">
            <a:gsLst>
              <a:gs pos="575">
                <a:schemeClr val="accent2"/>
              </a:gs>
              <a:gs pos="3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918144"/>
            <a:ext cx="2939186" cy="209681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4000" y="210114"/>
            <a:ext cx="2939491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918145"/>
            <a:ext cx="4991100" cy="4133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9365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500"/>
            <a:ext cx="3332784" cy="158191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5986"/>
            <a:ext cx="1097280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494378" y="207291"/>
            <a:ext cx="1639372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3140760" y="210114"/>
            <a:ext cx="493776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3099816"/>
            <a:ext cx="3332784" cy="30540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52900" y="0"/>
            <a:ext cx="80391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942C55-3382-C50D-76EB-793EA21DA34F}"/>
              </a:ext>
            </a:extLst>
          </p:cNvPr>
          <p:cNvCxnSpPr>
            <a:cxnSpLocks/>
          </p:cNvCxnSpPr>
          <p:nvPr/>
        </p:nvCxnSpPr>
        <p:spPr>
          <a:xfrm flipH="1">
            <a:off x="397288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75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86407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4282051"/>
            <a:ext cx="7010399" cy="1532976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19428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984" y="955810"/>
            <a:ext cx="4114800" cy="124405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7469431" y="210114"/>
            <a:ext cx="1485900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376096" y="210114"/>
            <a:ext cx="186046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491984" y="2791033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9AF0A0-5001-F380-4488-B02AB3C79B31}"/>
              </a:ext>
            </a:extLst>
          </p:cNvPr>
          <p:cNvCxnSpPr>
            <a:cxnSpLocks/>
          </p:cNvCxnSpPr>
          <p:nvPr/>
        </p:nvCxnSpPr>
        <p:spPr>
          <a:xfrm flipH="1">
            <a:off x="7595441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D0235B-B98B-7313-28E9-8E643CDFF4A6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0734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7686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1017686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3837709"/>
            <a:ext cx="12192000" cy="3020291"/>
          </a:xfrm>
          <a:blipFill dpi="0" rotWithShape="1">
            <a:blip r:embed="rId2">
              <a:alphaModFix amt="60000"/>
            </a:blip>
            <a:srcRect/>
            <a:stretch>
              <a:fillRect t="-27937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8946703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371600"/>
            <a:ext cx="3474720" cy="228600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57700" y="210114"/>
            <a:ext cx="2859307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611572" y="210114"/>
            <a:ext cx="605475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7700" y="1371600"/>
            <a:ext cx="3368778" cy="4701943"/>
          </a:xfrm>
        </p:spPr>
        <p:txBody>
          <a:bodyPr rIns="4572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31045" y="0"/>
            <a:ext cx="3460955" cy="686687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50207-6F0E-41F2-98B5-15BCAB2BF9AD}"/>
              </a:ext>
            </a:extLst>
          </p:cNvPr>
          <p:cNvSpPr/>
          <p:nvPr/>
        </p:nvSpPr>
        <p:spPr>
          <a:xfrm flipH="1">
            <a:off x="0" y="4771072"/>
            <a:ext cx="4874661" cy="2095805"/>
          </a:xfrm>
          <a:prstGeom prst="rect">
            <a:avLst/>
          </a:prstGeom>
          <a:gradFill>
            <a:gsLst>
              <a:gs pos="67000">
                <a:schemeClr val="bg2">
                  <a:alpha val="0"/>
                </a:schemeClr>
              </a:gs>
              <a:gs pos="95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1E79A5-CC18-0B38-C9F4-CA5690475280}"/>
              </a:ext>
            </a:extLst>
          </p:cNvPr>
          <p:cNvSpPr/>
          <p:nvPr/>
        </p:nvSpPr>
        <p:spPr>
          <a:xfrm flipH="1">
            <a:off x="-2" y="3852909"/>
            <a:ext cx="2823100" cy="3022846"/>
          </a:xfrm>
          <a:prstGeom prst="rect">
            <a:avLst/>
          </a:prstGeom>
          <a:gradFill flip="none" rotWithShape="1">
            <a:gsLst>
              <a:gs pos="0">
                <a:schemeClr val="tx2">
                  <a:alpha val="50000"/>
                </a:schemeClr>
              </a:gs>
              <a:gs pos="17000">
                <a:schemeClr val="accent6">
                  <a:lumMod val="60000"/>
                  <a:lumOff val="40000"/>
                  <a:alpha val="52000"/>
                </a:schemeClr>
              </a:gs>
              <a:gs pos="58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496BC-B679-515B-9928-2CC91AD7A8A2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772668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53029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590800" y="203862"/>
            <a:ext cx="2775003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47336" y="203862"/>
            <a:ext cx="864794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20000" y="0"/>
            <a:ext cx="4572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40749-9485-B575-4B2A-075EAA112D08}"/>
              </a:ext>
            </a:extLst>
          </p:cNvPr>
          <p:cNvSpPr/>
          <p:nvPr/>
        </p:nvSpPr>
        <p:spPr>
          <a:xfrm flipH="1">
            <a:off x="0" y="3706098"/>
            <a:ext cx="7620000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E19E54-3987-D72A-629F-B4FB61FCC4E9}"/>
              </a:ext>
            </a:extLst>
          </p:cNvPr>
          <p:cNvSpPr/>
          <p:nvPr/>
        </p:nvSpPr>
        <p:spPr>
          <a:xfrm flipH="1">
            <a:off x="0" y="5597112"/>
            <a:ext cx="7620000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alpha val="29000"/>
                </a:schemeClr>
              </a:gs>
              <a:gs pos="0">
                <a:schemeClr val="accent5">
                  <a:lumMod val="60000"/>
                  <a:lumOff val="40000"/>
                  <a:alpha val="84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4DF899-11E5-3A31-4C5A-75E63BA26BC6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6620256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4119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2834639"/>
            <a:ext cx="3014382" cy="29260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A51E54-3166-19CA-EB55-5DFFB9426CA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7796" y="0"/>
            <a:ext cx="12209796" cy="242009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834640"/>
            <a:ext cx="7200900" cy="29260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None/>
              <a:defRPr sz="1800"/>
            </a:lvl1pPr>
            <a:lvl2pPr marL="514350" indent="-285750">
              <a:buFont typeface="Arial" panose="020B0604020202020204" pitchFamily="34" charset="0"/>
              <a:buNone/>
              <a:defRPr sz="16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200"/>
            </a:lvl4pPr>
            <a:lvl5pPr marL="1085850" indent="-171450">
              <a:buFont typeface="Arial" panose="020B0604020202020204" pitchFamily="34" charset="0"/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6274033"/>
            <a:ext cx="3014382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80560" y="6274033"/>
            <a:ext cx="316230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92840" y="6274033"/>
            <a:ext cx="568917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BDDCA5B-BBAB-ABCD-27B8-D3CD17FD04BC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00760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0934"/>
            <a:ext cx="3507418" cy="1398494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932680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1351" y="2680447"/>
            <a:ext cx="3357819" cy="366208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06EA5C-4A14-95D3-20DF-1EEB607C889B}"/>
              </a:ext>
            </a:extLst>
          </p:cNvPr>
          <p:cNvSpPr/>
          <p:nvPr/>
        </p:nvSpPr>
        <p:spPr>
          <a:xfrm flipH="1">
            <a:off x="2171702" y="5847066"/>
            <a:ext cx="10020298" cy="1010934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76000">
                <a:schemeClr val="accent1">
                  <a:lumMod val="50000"/>
                  <a:alpha val="39000"/>
                </a:schemeClr>
              </a:gs>
              <a:gs pos="100000">
                <a:schemeClr val="accent5">
                  <a:alpha val="68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5652D2-BF56-96CE-426B-26972C38434D}"/>
              </a:ext>
            </a:extLst>
          </p:cNvPr>
          <p:cNvSpPr/>
          <p:nvPr/>
        </p:nvSpPr>
        <p:spPr>
          <a:xfrm rot="16200000" flipH="1">
            <a:off x="7767364" y="2433362"/>
            <a:ext cx="4944033" cy="390523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40000"/>
                </a:schemeClr>
              </a:gs>
              <a:gs pos="32000">
                <a:schemeClr val="bg1">
                  <a:alpha val="0"/>
                </a:schemeClr>
              </a:gs>
            </a:gsLst>
            <a:lin ang="14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A30D42-B5FE-EAD1-8419-4AD002C32B1F}"/>
              </a:ext>
            </a:extLst>
          </p:cNvPr>
          <p:cNvCxnSpPr>
            <a:cxnSpLocks/>
          </p:cNvCxnSpPr>
          <p:nvPr/>
        </p:nvCxnSpPr>
        <p:spPr>
          <a:xfrm>
            <a:off x="4426824" y="1075765"/>
            <a:ext cx="0" cy="4944035"/>
          </a:xfrm>
          <a:prstGeom prst="line">
            <a:avLst/>
          </a:prstGeom>
          <a:ln w="6350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2679" y="1010932"/>
            <a:ext cx="6492240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39133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9811"/>
            <a:ext cx="3419380" cy="1856553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8969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82390" y="3045041"/>
            <a:ext cx="3338742" cy="329748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8968" y="1019810"/>
            <a:ext cx="731520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308368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BF28860-8FEF-73E6-FEDF-176AC5D7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8" y="4907611"/>
            <a:ext cx="5320285" cy="1438873"/>
          </a:xfrm>
        </p:spPr>
        <p:txBody>
          <a:bodyPr anchor="t"/>
          <a:lstStyle>
            <a:lvl1pPr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B446035-33B1-F0D9-18B1-58E177267E3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766763"/>
            <a:ext cx="11320462" cy="3489325"/>
          </a:xfrm>
        </p:spPr>
        <p:txBody>
          <a:bodyPr/>
          <a:lstStyle>
            <a:lvl1pPr>
              <a:lnSpc>
                <a:spcPct val="85000"/>
              </a:lnSpc>
              <a:defRPr sz="240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F77A56B-CD68-22F4-F473-A2063E81D70D}"/>
              </a:ext>
            </a:extLst>
          </p:cNvPr>
          <p:cNvCxnSpPr>
            <a:cxnSpLocks/>
          </p:cNvCxnSpPr>
          <p:nvPr/>
        </p:nvCxnSpPr>
        <p:spPr>
          <a:xfrm flipH="1">
            <a:off x="394716" y="466224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1876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BED7B15-76E6-E98E-A0BB-6188FC145CDD}"/>
              </a:ext>
            </a:extLst>
          </p:cNvPr>
          <p:cNvSpPr/>
          <p:nvPr/>
        </p:nvSpPr>
        <p:spPr>
          <a:xfrm rot="10800000"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50000">
                <a:schemeClr val="accent3">
                  <a:lumMod val="60000"/>
                  <a:lumOff val="40000"/>
                  <a:alpha val="75000"/>
                </a:schemeClr>
              </a:gs>
              <a:gs pos="0">
                <a:schemeClr val="accent1">
                  <a:lumMod val="50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602343-A974-BE4B-41E6-58237921FB4D}"/>
              </a:ext>
            </a:extLst>
          </p:cNvPr>
          <p:cNvSpPr/>
          <p:nvPr/>
        </p:nvSpPr>
        <p:spPr>
          <a:xfrm flipH="1">
            <a:off x="3683466" y="0"/>
            <a:ext cx="8508534" cy="685800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40000"/>
                  <a:lumOff val="60000"/>
                </a:schemeClr>
              </a:gs>
              <a:gs pos="73000">
                <a:schemeClr val="accent3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022E84-7D91-EFA0-CBCA-F9AC98E6181F}"/>
              </a:ext>
            </a:extLst>
          </p:cNvPr>
          <p:cNvSpPr/>
          <p:nvPr/>
        </p:nvSpPr>
        <p:spPr>
          <a:xfrm rot="5400000">
            <a:off x="1670408" y="-1670408"/>
            <a:ext cx="7492544" cy="10833360"/>
          </a:xfrm>
          <a:prstGeom prst="rect">
            <a:avLst/>
          </a:prstGeom>
          <a:gradFill flip="none" rotWithShape="1">
            <a:gsLst>
              <a:gs pos="58000">
                <a:schemeClr val="accent2">
                  <a:alpha val="0"/>
                </a:schemeClr>
              </a:gs>
              <a:gs pos="98000">
                <a:schemeClr val="accent6">
                  <a:lumMod val="7500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DA0DC0-3518-750A-3821-192C03B2D059}"/>
              </a:ext>
            </a:extLst>
          </p:cNvPr>
          <p:cNvSpPr/>
          <p:nvPr/>
        </p:nvSpPr>
        <p:spPr>
          <a:xfrm rot="10800000">
            <a:off x="5031742" y="-20336"/>
            <a:ext cx="7160258" cy="6878336"/>
          </a:xfrm>
          <a:prstGeom prst="rect">
            <a:avLst/>
          </a:prstGeom>
          <a:gradFill>
            <a:gsLst>
              <a:gs pos="30000">
                <a:schemeClr val="accent4">
                  <a:lumMod val="60000"/>
                  <a:lumOff val="40000"/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402F4-533A-849C-ACAD-039056A5D174}"/>
              </a:ext>
            </a:extLst>
          </p:cNvPr>
          <p:cNvSpPr/>
          <p:nvPr/>
        </p:nvSpPr>
        <p:spPr>
          <a:xfrm flipH="1">
            <a:off x="8961" y="2704579"/>
            <a:ext cx="12183038" cy="4153421"/>
          </a:xfrm>
          <a:prstGeom prst="rect">
            <a:avLst/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68000">
                <a:schemeClr val="bg2">
                  <a:alpha val="67000"/>
                </a:schemeClr>
              </a:gs>
              <a:gs pos="90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326435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74BFB-EECC-C995-E701-4CCEB032F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70000"/>
                </a:schemeClr>
              </a:gs>
              <a:gs pos="50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2E260E-763F-A06B-2808-39975829F205}"/>
              </a:ext>
            </a:extLst>
          </p:cNvPr>
          <p:cNvSpPr/>
          <p:nvPr/>
        </p:nvSpPr>
        <p:spPr>
          <a:xfrm rot="5400000" flipH="1">
            <a:off x="2667005" y="-2666996"/>
            <a:ext cx="6857996" cy="12191993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82642F-D94D-7313-EB9D-48E3CBEDD19C}"/>
              </a:ext>
            </a:extLst>
          </p:cNvPr>
          <p:cNvSpPr/>
          <p:nvPr/>
        </p:nvSpPr>
        <p:spPr>
          <a:xfrm rot="16200000" flipH="1">
            <a:off x="4381500" y="-4373435"/>
            <a:ext cx="3429000" cy="1217587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chemeClr val="accent6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0" y="4967784"/>
            <a:ext cx="8484108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405719"/>
            <a:ext cx="8484108" cy="3087622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1ECC83-D6FA-D54B-81F2-EE93577E016F}"/>
              </a:ext>
            </a:extLst>
          </p:cNvPr>
          <p:cNvCxnSpPr>
            <a:cxnSpLocks/>
          </p:cNvCxnSpPr>
          <p:nvPr/>
        </p:nvCxnSpPr>
        <p:spPr>
          <a:xfrm flipH="1">
            <a:off x="2077285" y="4810814"/>
            <a:ext cx="8273723" cy="0"/>
          </a:xfrm>
          <a:prstGeom prst="line">
            <a:avLst/>
          </a:prstGeom>
          <a:ln w="6350">
            <a:solidFill>
              <a:schemeClr val="tx1">
                <a:lumMod val="75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658368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7012885" cy="1381432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ABA73FC-7BD1-70E0-E0BB-062C0B9E495C}"/>
              </a:ext>
            </a:extLst>
          </p:cNvPr>
          <p:cNvCxnSpPr>
            <a:cxnSpLocks/>
          </p:cNvCxnSpPr>
          <p:nvPr/>
        </p:nvCxnSpPr>
        <p:spPr>
          <a:xfrm flipH="1">
            <a:off x="394716" y="303297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E12F779-E4E9-1000-6D97-63D7AD0CD426}"/>
              </a:ext>
            </a:extLst>
          </p:cNvPr>
          <p:cNvSpPr/>
          <p:nvPr/>
        </p:nvSpPr>
        <p:spPr>
          <a:xfrm rot="5400000" flipH="1">
            <a:off x="4765041" y="-568961"/>
            <a:ext cx="2661919" cy="12192002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98276">
                <a:schemeClr val="tx2"/>
              </a:gs>
              <a:gs pos="85000">
                <a:schemeClr val="accent1">
                  <a:alpha val="85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177CF-A7A2-912C-416D-E7E03D2C5291}"/>
              </a:ext>
            </a:extLst>
          </p:cNvPr>
          <p:cNvSpPr/>
          <p:nvPr/>
        </p:nvSpPr>
        <p:spPr>
          <a:xfrm rot="5400000" flipH="1">
            <a:off x="4516120" y="-817882"/>
            <a:ext cx="3159760" cy="12192003"/>
          </a:xfrm>
          <a:prstGeom prst="rect">
            <a:avLst/>
          </a:prstGeom>
          <a:gradFill>
            <a:gsLst>
              <a:gs pos="62000">
                <a:schemeClr val="bg2">
                  <a:alpha val="0"/>
                </a:schemeClr>
              </a:gs>
              <a:gs pos="98276">
                <a:schemeClr val="accent5"/>
              </a:gs>
              <a:gs pos="88000">
                <a:schemeClr val="accent3">
                  <a:alpha val="49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3230" y="3429000"/>
            <a:ext cx="11171699" cy="24656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3404569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3CA1D0-5ABF-E529-5411-F834222E48FC}"/>
              </a:ext>
            </a:extLst>
          </p:cNvPr>
          <p:cNvSpPr/>
          <p:nvPr/>
        </p:nvSpPr>
        <p:spPr>
          <a:xfrm rot="5400000">
            <a:off x="5020923" y="-2430130"/>
            <a:ext cx="1825034" cy="11866880"/>
          </a:xfrm>
          <a:prstGeom prst="rect">
            <a:avLst/>
          </a:prstGeom>
          <a:gradFill>
            <a:gsLst>
              <a:gs pos="41000">
                <a:schemeClr val="bg1">
                  <a:alpha val="0"/>
                </a:schemeClr>
              </a:gs>
              <a:gs pos="85612">
                <a:schemeClr val="accent4">
                  <a:alpha val="7800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0F5D87-BF9C-3DAE-D977-87A4FA7749F4}"/>
              </a:ext>
            </a:extLst>
          </p:cNvPr>
          <p:cNvSpPr/>
          <p:nvPr/>
        </p:nvSpPr>
        <p:spPr>
          <a:xfrm rot="10800000" flipH="1">
            <a:off x="0" y="2590790"/>
            <a:ext cx="12192000" cy="1825033"/>
          </a:xfrm>
          <a:prstGeom prst="rect">
            <a:avLst/>
          </a:prstGeom>
          <a:gradFill>
            <a:gsLst>
              <a:gs pos="68000">
                <a:schemeClr val="bg2">
                  <a:alpha val="0"/>
                </a:schemeClr>
              </a:gs>
              <a:gs pos="98851">
                <a:schemeClr val="accent5">
                  <a:lumMod val="60000"/>
                  <a:lumOff val="40000"/>
                </a:schemeClr>
              </a:gs>
              <a:gs pos="89000">
                <a:schemeClr val="accent3">
                  <a:lumMod val="60000"/>
                  <a:lumOff val="40000"/>
                  <a:alpha val="3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6095999" cy="1454506"/>
          </a:xfrm>
        </p:spPr>
        <p:txBody>
          <a:bodyPr anchor="t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3337560"/>
            <a:ext cx="3595171" cy="282858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100" dirty="0"/>
            </a:lvl4pPr>
            <a:lvl5pPr marL="914400" indent="0">
              <a:buNone/>
              <a:defRPr lang="en-US" sz="105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135313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0858500" cy="69238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A35E0D-62A8-3554-9B0A-F98F410BA73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1806575"/>
            <a:ext cx="5165725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59B3B287-1823-BE94-2755-A041E87636A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1" y="1806575"/>
            <a:ext cx="4991100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FB33C1-66E4-5420-EAC7-ECB72519298E}"/>
              </a:ext>
            </a:extLst>
          </p:cNvPr>
          <p:cNvCxnSpPr>
            <a:cxnSpLocks/>
          </p:cNvCxnSpPr>
          <p:nvPr/>
        </p:nvCxnSpPr>
        <p:spPr>
          <a:xfrm flipH="1">
            <a:off x="394716" y="158496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837833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6AE5CFF-8C53-04B8-D45D-5572C54FE40F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1585448" cy="6620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05EA491-E08A-48B5-7211-33514A94530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9980DF-BFB1-0E16-FE9E-D2D30ED180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EA97154-58A7-DD75-CD73-93F442F3412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1775779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3701989-F794-F145-FEEE-631718E4D69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492481"/>
            <a:ext cx="5165725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20840" y="1775777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A3BB3E04-BBB2-1EB1-AF01-EFE05E00427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492481"/>
            <a:ext cx="5181907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92CF81-A7A7-1362-125E-EEC5C8BD16E7}"/>
              </a:ext>
            </a:extLst>
          </p:cNvPr>
          <p:cNvCxnSpPr>
            <a:cxnSpLocks/>
          </p:cNvCxnSpPr>
          <p:nvPr/>
        </p:nvCxnSpPr>
        <p:spPr>
          <a:xfrm flipH="1">
            <a:off x="394716" y="1579934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1E71789-6ED9-AA74-B78C-05CAF80B5536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957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05840"/>
            <a:ext cx="9906000" cy="80104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69068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865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869140"/>
            <a:ext cx="11604046" cy="9692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" y="210114"/>
            <a:ext cx="1759288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22485" y="210114"/>
            <a:ext cx="25092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0323" y="210114"/>
            <a:ext cx="605475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2047284"/>
            <a:ext cx="11604046" cy="4234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E5EF3F-856F-01A0-B658-94EAB13FC060}"/>
              </a:ext>
            </a:extLst>
          </p:cNvPr>
          <p:cNvCxnSpPr>
            <a:cxnSpLocks/>
          </p:cNvCxnSpPr>
          <p:nvPr/>
        </p:nvCxnSpPr>
        <p:spPr>
          <a:xfrm flipH="1">
            <a:off x="394716" y="751313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26685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800" b="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pos="168">
          <p15:clr>
            <a:srgbClr val="F26B43"/>
          </p15:clr>
        </p15:guide>
        <p15:guide id="22" orient="horz" pos="2160">
          <p15:clr>
            <a:srgbClr val="F26B43"/>
          </p15:clr>
        </p15:guide>
        <p15:guide id="23" pos="4800">
          <p15:clr>
            <a:srgbClr val="F26B43"/>
          </p15:clr>
        </p15:guide>
        <p15:guide id="24" orient="horz" pos="480">
          <p15:clr>
            <a:srgbClr val="F26B43"/>
          </p15:clr>
        </p15:guide>
        <p15:guide id="25" orient="horz" pos="864">
          <p15:clr>
            <a:srgbClr val="F26B43"/>
          </p15:clr>
        </p15:guide>
        <p15:guide id="26" pos="7392">
          <p15:clr>
            <a:srgbClr val="F26B43"/>
          </p15:clr>
        </p15:guide>
        <p15:guide id="27" orient="horz" pos="3840">
          <p15:clr>
            <a:srgbClr val="F26B43"/>
          </p15:clr>
        </p15:guide>
        <p15:guide id="28" pos="240">
          <p15:clr>
            <a:srgbClr val="F26B43"/>
          </p15:clr>
        </p15:guide>
        <p15:guide id="29" pos="74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1055460"/>
            <a:ext cx="6527749" cy="76944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4400" b="1" dirty="0">
                <a:solidFill>
                  <a:srgbClr val="F5F5F5"/>
                </a:solidFill>
                <a:latin typeface="Aptos"/>
              </a:rPr>
              <a:t>NIFTY 50 STOCK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922263"/>
            <a:ext cx="6825010" cy="70788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4000" b="1" dirty="0">
                <a:solidFill>
                  <a:srgbClr val="1E90FF"/>
                </a:solidFill>
                <a:latin typeface="Aptos"/>
              </a:rPr>
              <a:t>Trading Analytics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3204971"/>
            <a:ext cx="5546054" cy="1234440"/>
          </a:xfrm>
          <a:prstGeom prst="roundRect">
            <a:avLst/>
          </a:prstGeom>
          <a:solidFill>
            <a:srgbClr val="1C1C1C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453197"/>
            <a:ext cx="1494448" cy="35394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 dirty="0">
                <a:solidFill>
                  <a:srgbClr val="1E90FF"/>
                </a:solidFill>
                <a:latin typeface="Aptos"/>
              </a:rPr>
              <a:t>Project focus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22191"/>
            <a:ext cx="44805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0" dirty="0">
                <a:solidFill>
                  <a:srgbClr val="F5F5F5"/>
                </a:solidFill>
                <a:latin typeface="Aptos"/>
              </a:rPr>
              <a:t>Stock performance • risk • valuation • trading activity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124" y="5801388"/>
            <a:ext cx="3216265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b="0" dirty="0">
                <a:solidFill>
                  <a:srgbClr val="B4B4B4"/>
                </a:solidFill>
                <a:latin typeface="Aptos"/>
              </a:rPr>
              <a:t>Prepared by Monika Srinivasan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800" b="1">
                <a:solidFill>
                  <a:srgbClr val="F5F5F5"/>
                </a:solidFill>
                <a:latin typeface="Aptos"/>
              </a:rPr>
              <a:t>1.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1398"/>
            <a:ext cx="4286045" cy="3231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 dirty="0">
                <a:solidFill>
                  <a:srgbClr val="B4B4B4"/>
                </a:solidFill>
                <a:latin typeface="Aptos"/>
              </a:rPr>
              <a:t>Business-oriented analysis of NIFTY 50 stock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5394960" cy="448056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000" b="1">
                <a:solidFill>
                  <a:srgbClr val="1E90FF"/>
                </a:solidFill>
                <a:latin typeface="Aptos"/>
              </a:rPr>
              <a:t>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t>• Analyze stock returns, volatility and trading activity.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t>• Compare companies and sectors using common KPIs.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t>• Identify high-return, high-volatility and high-volume stocks.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t>• Present valuation indicators such as P/E, EPS and Price-to-Book.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t>• Build an interactive 3-page Power BI dashboard.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34440"/>
            <a:ext cx="5212080" cy="448056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508760"/>
            <a:ext cx="22860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000" b="1">
                <a:solidFill>
                  <a:srgbClr val="1E90FF"/>
                </a:solidFill>
                <a:latin typeface="Aptos"/>
              </a:rPr>
              <a:t>Dataset Snapshot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2057400"/>
            <a:ext cx="2011680" cy="868680"/>
          </a:xfrm>
          <a:prstGeom prst="roundRect">
            <a:avLst/>
          </a:prstGeom>
          <a:solidFill>
            <a:srgbClr val="2D2D2D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02552" y="2130552"/>
            <a:ext cx="1865376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F5F5F5"/>
                </a:solidFill>
                <a:latin typeface="Aptos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2552" y="2523744"/>
            <a:ext cx="1865376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B4B4B4"/>
                </a:solidFill>
                <a:latin typeface="Aptos"/>
              </a:rPr>
              <a:t>Companies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2057400"/>
            <a:ext cx="2011680" cy="868680"/>
          </a:xfrm>
          <a:prstGeom prst="roundRect">
            <a:avLst/>
          </a:prstGeom>
          <a:solidFill>
            <a:srgbClr val="2D2D2D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97112" y="2130552"/>
            <a:ext cx="1865376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F5F5F5"/>
                </a:solidFill>
                <a:latin typeface="Aptos"/>
              </a:rPr>
              <a:t>7K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7112" y="2523744"/>
            <a:ext cx="1865376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B4B4B4"/>
                </a:solidFill>
                <a:latin typeface="Aptos"/>
              </a:rPr>
              <a:t>Trading Days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3154680"/>
            <a:ext cx="2011680" cy="868680"/>
          </a:xfrm>
          <a:prstGeom prst="roundRect">
            <a:avLst/>
          </a:prstGeom>
          <a:solidFill>
            <a:srgbClr val="2D2D2D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02552" y="3227832"/>
            <a:ext cx="1865376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F5F5F5"/>
                </a:solidFill>
                <a:latin typeface="Aptos"/>
              </a:rPr>
              <a:t>2T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3621024"/>
            <a:ext cx="1865376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B4B4B4"/>
                </a:solidFill>
                <a:latin typeface="Aptos"/>
              </a:rPr>
              <a:t>Total Volume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3154680"/>
            <a:ext cx="2011680" cy="868680"/>
          </a:xfrm>
          <a:prstGeom prst="roundRect">
            <a:avLst/>
          </a:prstGeom>
          <a:solidFill>
            <a:srgbClr val="2D2D2D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97112" y="3227832"/>
            <a:ext cx="1865376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F5F5F5"/>
                </a:solidFill>
                <a:latin typeface="Aptos"/>
              </a:rPr>
              <a:t>197T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7112" y="3621024"/>
            <a:ext cx="1865376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B4B4B4"/>
                </a:solidFill>
                <a:latin typeface="Aptos"/>
              </a:rPr>
              <a:t>Market Cap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523601"/>
            <a:ext cx="4234493" cy="55399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 dirty="0">
                <a:solidFill>
                  <a:srgbClr val="B4B4B4"/>
                </a:solidFill>
                <a:latin typeface="Aptos"/>
              </a:rPr>
              <a:t>The dataset combines company-level summary </a:t>
            </a:r>
            <a:endParaRPr lang="en-IN" sz="1500" dirty="0">
              <a:solidFill>
                <a:srgbClr val="B4B4B4"/>
              </a:solidFill>
              <a:latin typeface="Aptos"/>
            </a:endParaRPr>
          </a:p>
          <a:p>
            <a:pPr algn="l"/>
            <a:r>
              <a:rPr sz="1500" b="0" dirty="0">
                <a:solidFill>
                  <a:srgbClr val="B4B4B4"/>
                </a:solidFill>
                <a:latin typeface="Aptos"/>
              </a:rPr>
              <a:t>statistics with daily historical stock observations.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800" b="1">
                <a:solidFill>
                  <a:srgbClr val="F5F5F5"/>
                </a:solidFill>
                <a:latin typeface="Aptos"/>
              </a:rPr>
              <a:t>2. Data Structure &amp; Key Fields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1398"/>
            <a:ext cx="5460084" cy="3231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 dirty="0">
                <a:solidFill>
                  <a:srgbClr val="B4B4B4"/>
                </a:solidFill>
                <a:latin typeface="Aptos"/>
              </a:rPr>
              <a:t>Two levels of analysis: company summary + daily market activity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5349240" cy="493776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6576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000" b="1">
                <a:solidFill>
                  <a:srgbClr val="1E90FF"/>
                </a:solidFill>
                <a:latin typeface="Aptos"/>
              </a:rPr>
              <a:t>Company Summary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480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rPr dirty="0"/>
              <a:t>• Ticker, </a:t>
            </a:r>
            <a:r>
              <a:rPr dirty="0" err="1"/>
              <a:t>Company_Name</a:t>
            </a:r>
            <a:r>
              <a:rPr dirty="0"/>
              <a:t>, Sector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rPr dirty="0"/>
              <a:t>• Starting / Ending Price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rPr dirty="0"/>
              <a:t>• Total Return %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rPr dirty="0"/>
              <a:t>• Highest / Lowest Price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rPr dirty="0"/>
              <a:t>• Average Daily Volume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rPr dirty="0"/>
              <a:t>• Current Market Cap and P/E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rPr dirty="0"/>
              <a:t>• Volatility % and Total Dividends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349240" cy="493776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508760"/>
            <a:ext cx="36576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000" b="1">
                <a:solidFill>
                  <a:srgbClr val="1E90FF"/>
                </a:solidFill>
                <a:latin typeface="Aptos"/>
              </a:rPr>
              <a:t>Daily Historical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480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t>• Date, Ticker, Sector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t>• Open, High, Low, Close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t>• Volume and Dividend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t>• Daily Return and 20D Volatility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t>• MA_50 and market indicators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t>• P/E, Forward P/E, PEG, P/B</a:t>
            </a:r>
          </a:p>
          <a:p>
            <a:pPr>
              <a:spcAft>
                <a:spcPts val="1000"/>
              </a:spcAft>
              <a:defRPr sz="1600">
                <a:solidFill>
                  <a:srgbClr val="F5F5F5"/>
                </a:solidFill>
                <a:latin typeface="Aptos"/>
              </a:defRPr>
            </a:pPr>
            <a:r>
              <a:t>• EPS, Beta, 52-week High / 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0C6C3E-7F6C-F070-8731-99C87FF2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B3E098-CEDD-22E8-DBFE-F92614E2F3F8}"/>
              </a:ext>
            </a:extLst>
          </p:cNvPr>
          <p:cNvSpPr txBox="1"/>
          <p:nvPr/>
        </p:nvSpPr>
        <p:spPr>
          <a:xfrm>
            <a:off x="594360" y="309890"/>
            <a:ext cx="3923062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n-US" sz="2800" b="1" dirty="0">
                <a:solidFill>
                  <a:srgbClr val="F5F5F5"/>
                </a:solidFill>
                <a:latin typeface="Aptos"/>
              </a:rPr>
              <a:t>3. Problem Statements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E8FE9FA-5577-7EC7-6F8F-DCECB681D271}"/>
              </a:ext>
            </a:extLst>
          </p:cNvPr>
          <p:cNvSpPr/>
          <p:nvPr/>
        </p:nvSpPr>
        <p:spPr>
          <a:xfrm>
            <a:off x="546197" y="1175657"/>
            <a:ext cx="11099605" cy="4661938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C935B6-1333-810B-DBAB-D8449A9CFA7B}"/>
              </a:ext>
            </a:extLst>
          </p:cNvPr>
          <p:cNvSpPr txBox="1"/>
          <p:nvPr/>
        </p:nvSpPr>
        <p:spPr>
          <a:xfrm>
            <a:off x="1240971" y="1449996"/>
            <a:ext cx="4353756" cy="4001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n-US" sz="2000" b="1" dirty="0">
                <a:solidFill>
                  <a:srgbClr val="1E90FF"/>
                </a:solidFill>
                <a:latin typeface="Aptos"/>
              </a:rPr>
              <a:t>Business Questions to be Answered</a:t>
            </a:r>
            <a:endParaRPr sz="2000" b="1" dirty="0">
              <a:solidFill>
                <a:srgbClr val="1E90FF"/>
              </a:solidFill>
              <a:latin typeface="Apto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224944-E026-11DD-1E04-7131EE7D4DD9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84E579-441D-00BE-39F6-BA4789920EFF}"/>
              </a:ext>
            </a:extLst>
          </p:cNvPr>
          <p:cNvSpPr txBox="1"/>
          <p:nvPr/>
        </p:nvSpPr>
        <p:spPr>
          <a:xfrm>
            <a:off x="1240971" y="2107470"/>
            <a:ext cx="8784771" cy="28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EBEBEB"/>
                </a:solidFill>
              </a:defRPr>
            </a:pPr>
            <a:r>
              <a:rPr sz="1700" dirty="0">
                <a:latin typeface="Aptos" panose="020B0004020202020204" pitchFamily="34" charset="0"/>
              </a:rPr>
              <a:t>• Which months have the highest and lowest trading volume?</a:t>
            </a:r>
          </a:p>
          <a:p>
            <a:pPr>
              <a:spcAft>
                <a:spcPts val="400"/>
              </a:spcAft>
              <a:defRPr sz="1300">
                <a:solidFill>
                  <a:srgbClr val="EBEBEB"/>
                </a:solidFill>
              </a:defRPr>
            </a:pPr>
            <a:r>
              <a:rPr sz="1700" dirty="0">
                <a:latin typeface="Aptos" panose="020B0004020202020204" pitchFamily="34" charset="0"/>
              </a:rPr>
              <a:t>• Which sectors show higher average returns?</a:t>
            </a:r>
          </a:p>
          <a:p>
            <a:pPr>
              <a:spcAft>
                <a:spcPts val="400"/>
              </a:spcAft>
              <a:defRPr sz="1300">
                <a:solidFill>
                  <a:srgbClr val="EBEBEB"/>
                </a:solidFill>
              </a:defRPr>
            </a:pPr>
            <a:r>
              <a:rPr sz="1700" dirty="0">
                <a:latin typeface="Aptos" panose="020B0004020202020204" pitchFamily="34" charset="0"/>
              </a:rPr>
              <a:t>• Which companies have the highest market capitalization?</a:t>
            </a:r>
          </a:p>
          <a:p>
            <a:pPr>
              <a:spcAft>
                <a:spcPts val="400"/>
              </a:spcAft>
              <a:defRPr sz="1300">
                <a:solidFill>
                  <a:srgbClr val="EBEBEB"/>
                </a:solidFill>
              </a:defRPr>
            </a:pPr>
            <a:r>
              <a:rPr sz="1700" dirty="0">
                <a:latin typeface="Aptos" panose="020B0004020202020204" pitchFamily="34" charset="0"/>
              </a:rPr>
              <a:t>• Which stocks have the highest total returns?</a:t>
            </a:r>
          </a:p>
          <a:p>
            <a:pPr>
              <a:spcAft>
                <a:spcPts val="400"/>
              </a:spcAft>
              <a:defRPr sz="1300">
                <a:solidFill>
                  <a:srgbClr val="EBEBEB"/>
                </a:solidFill>
              </a:defRPr>
            </a:pPr>
            <a:r>
              <a:rPr sz="1700" dirty="0">
                <a:latin typeface="Aptos" panose="020B0004020202020204" pitchFamily="34" charset="0"/>
              </a:rPr>
              <a:t>• Which stocks have the highest volatility?</a:t>
            </a:r>
          </a:p>
          <a:p>
            <a:pPr>
              <a:spcAft>
                <a:spcPts val="400"/>
              </a:spcAft>
              <a:defRPr sz="1300">
                <a:solidFill>
                  <a:srgbClr val="EBEBEB"/>
                </a:solidFill>
              </a:defRPr>
            </a:pPr>
            <a:r>
              <a:rPr sz="1700" dirty="0">
                <a:latin typeface="Aptos" panose="020B0004020202020204" pitchFamily="34" charset="0"/>
              </a:rPr>
              <a:t>• How do stock performance, risk, valuation and trading activity vary across companies and sectors?</a:t>
            </a:r>
          </a:p>
          <a:p>
            <a:pPr>
              <a:spcAft>
                <a:spcPts val="400"/>
              </a:spcAft>
              <a:defRPr sz="1300">
                <a:solidFill>
                  <a:srgbClr val="EBEBEB"/>
                </a:solidFill>
              </a:defRPr>
            </a:pPr>
            <a:r>
              <a:rPr sz="1700" dirty="0">
                <a:latin typeface="Aptos" panose="020B0004020202020204" pitchFamily="34" charset="0"/>
              </a:rPr>
              <a:t>• How can the stock market data be presented through an interactive dashboard for easier analysis?</a:t>
            </a:r>
          </a:p>
        </p:txBody>
      </p:sp>
    </p:spTree>
    <p:extLst>
      <p:ext uri="{BB962C8B-B14F-4D97-AF65-F5344CB8AC3E}">
        <p14:creationId xmlns:p14="http://schemas.microsoft.com/office/powerpoint/2010/main" val="1818110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5F5F5"/>
                </a:solidFill>
                <a:latin typeface="Aptos"/>
              </a:rPr>
              <a:t>4. Data Cleaning &amp;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B4B4B4"/>
                </a:solidFill>
                <a:latin typeface="Aptos"/>
              </a:rPr>
              <a:t>Steps taken before building KPIs and dashboard visuals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212080" cy="196596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527048"/>
            <a:ext cx="4754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E90FF"/>
                </a:solidFill>
                <a:latin typeface="Aptos"/>
              </a:rPr>
              <a:t>Data Type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754880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dirty="0">
                <a:solidFill>
                  <a:srgbClr val="F5F5F5"/>
                </a:solidFill>
                <a:latin typeface="Aptos"/>
              </a:rPr>
              <a:t>• Changed columns to suitable data types.
• Checked dates, numeric fields and categorical fields.
• Ensured values were ready for calculations and visuals.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25880"/>
            <a:ext cx="5212080" cy="196596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29400" y="1527048"/>
            <a:ext cx="4754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E90FF"/>
                </a:solidFill>
                <a:latin typeface="Aptos"/>
              </a:rPr>
              <a:t>Percentage Handling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965960"/>
            <a:ext cx="4754880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• Converted percentage-point values into usable percentage values.
• Created separate columns where required for correct display and analysis.
• Avoided applying percentage formatting twice.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703320"/>
            <a:ext cx="5212080" cy="196596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904487"/>
            <a:ext cx="4754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E90FF"/>
                </a:solidFill>
                <a:latin typeface="Aptos"/>
              </a:rPr>
              <a:t>Calculated Columns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43400"/>
            <a:ext cx="4754880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• Created columns needed for analysis.
• Used calculated fields for risk classification and other dashboard analysis.
• Prepared data for KPI calculations.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703320"/>
            <a:ext cx="5212080" cy="196596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3904487"/>
            <a:ext cx="4754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E90FF"/>
                </a:solidFill>
                <a:latin typeface="Aptos"/>
              </a:rPr>
              <a:t>Remove Unusable Columns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343400"/>
            <a:ext cx="4754880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• Removed columns that did not contain usable analytical data.
• Example: MA_200 had blank values, so it was removed.
• Checked missing values and unusual values before visualization.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800" b="1">
                <a:solidFill>
                  <a:srgbClr val="F5F5F5"/>
                </a:solidFill>
                <a:latin typeface="Aptos"/>
              </a:rPr>
              <a:t>5. Tools &amp; Analysis Methodology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417320"/>
            <a:ext cx="5212080" cy="192024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645920"/>
            <a:ext cx="43891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000" b="1">
                <a:solidFill>
                  <a:srgbClr val="1E90FF"/>
                </a:solidFill>
                <a:latin typeface="Aptos"/>
              </a:rPr>
              <a:t>Power BI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265033"/>
            <a:ext cx="4259692" cy="55399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 dirty="0">
                <a:solidFill>
                  <a:srgbClr val="F5F5F5"/>
                </a:solidFill>
                <a:latin typeface="Aptos"/>
              </a:rPr>
              <a:t>Dashboard design, interactive visuals, slicers and</a:t>
            </a:r>
            <a:endParaRPr lang="en-US" sz="1500" b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500" b="0" dirty="0">
                <a:solidFill>
                  <a:srgbClr val="F5F5F5"/>
                </a:solidFill>
                <a:latin typeface="Aptos"/>
              </a:rPr>
              <a:t> report pages.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17320"/>
            <a:ext cx="5212080" cy="192024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0" y="1645920"/>
            <a:ext cx="43891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000" b="1">
                <a:solidFill>
                  <a:srgbClr val="1E90FF"/>
                </a:solidFill>
                <a:latin typeface="Aptos"/>
              </a:rPr>
              <a:t>DAX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265033"/>
            <a:ext cx="3833998" cy="55399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 dirty="0">
                <a:solidFill>
                  <a:srgbClr val="F5F5F5"/>
                </a:solidFill>
                <a:latin typeface="Aptos"/>
              </a:rPr>
              <a:t>Calculated measures and columns for KPIs, </a:t>
            </a:r>
            <a:endParaRPr lang="en-US" sz="1500" b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500" b="0" dirty="0">
                <a:solidFill>
                  <a:srgbClr val="F5F5F5"/>
                </a:solidFill>
                <a:latin typeface="Aptos"/>
              </a:rPr>
              <a:t>risk categories and display metrics.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749039"/>
            <a:ext cx="5212080" cy="192024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977639"/>
            <a:ext cx="43891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000" b="1">
                <a:solidFill>
                  <a:srgbClr val="1E90FF"/>
                </a:solidFill>
                <a:latin typeface="Aptos"/>
              </a:rPr>
              <a:t>Data Cleaning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596753"/>
            <a:ext cx="3838551" cy="55399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 dirty="0">
                <a:solidFill>
                  <a:srgbClr val="F5F5F5"/>
                </a:solidFill>
                <a:latin typeface="Aptos"/>
              </a:rPr>
              <a:t>Checked data types, percentage formatting, </a:t>
            </a:r>
            <a:endParaRPr lang="en-US" sz="1500" b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500" b="0">
                <a:solidFill>
                  <a:srgbClr val="F5F5F5"/>
                </a:solidFill>
                <a:latin typeface="Aptos"/>
              </a:rPr>
              <a:t>missing  </a:t>
            </a:r>
            <a:r>
              <a:rPr sz="1500" b="0" dirty="0">
                <a:solidFill>
                  <a:srgbClr val="F5F5F5"/>
                </a:solidFill>
                <a:latin typeface="Aptos"/>
              </a:rPr>
              <a:t>and outliers.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749039"/>
            <a:ext cx="5212080" cy="192024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3977639"/>
            <a:ext cx="43891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000" b="1">
                <a:solidFill>
                  <a:srgbClr val="1E90FF"/>
                </a:solidFill>
                <a:latin typeface="Aptos"/>
              </a:rPr>
              <a:t>Visual Analytics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596753"/>
            <a:ext cx="4182492" cy="55399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 dirty="0">
                <a:solidFill>
                  <a:srgbClr val="F5F5F5"/>
                </a:solidFill>
                <a:latin typeface="Aptos"/>
              </a:rPr>
              <a:t>Bar, line, </a:t>
            </a:r>
            <a:r>
              <a:rPr sz="1500" b="0" dirty="0" err="1">
                <a:solidFill>
                  <a:srgbClr val="F5F5F5"/>
                </a:solidFill>
                <a:latin typeface="Aptos"/>
              </a:rPr>
              <a:t>treemap</a:t>
            </a:r>
            <a:r>
              <a:rPr sz="1500" b="0" dirty="0">
                <a:solidFill>
                  <a:srgbClr val="F5F5F5"/>
                </a:solidFill>
                <a:latin typeface="Aptos"/>
              </a:rPr>
              <a:t>, donut and risk/return analysis</a:t>
            </a:r>
            <a:endParaRPr lang="en-US" sz="1500" b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500" b="0" dirty="0">
                <a:solidFill>
                  <a:srgbClr val="F5F5F5"/>
                </a:solidFill>
                <a:latin typeface="Aptos"/>
              </a:rPr>
              <a:t> for business interpretation.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6779F0-7E00-C0D4-4A70-8333F6594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7F262A-F7A9-2CBE-4943-19D0E21EC0EF}"/>
              </a:ext>
            </a:extLst>
          </p:cNvPr>
          <p:cNvSpPr txBox="1"/>
          <p:nvPr/>
        </p:nvSpPr>
        <p:spPr>
          <a:xfrm>
            <a:off x="594360" y="299004"/>
            <a:ext cx="5372048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US" sz="2800" b="1" dirty="0">
                <a:solidFill>
                  <a:srgbClr val="F5F5F5"/>
                </a:solidFill>
                <a:latin typeface="Aptos"/>
              </a:rPr>
              <a:t>6. Data Modeling &amp; Relationship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25BC375-5B06-5411-14F0-4D134FC401F2}"/>
              </a:ext>
            </a:extLst>
          </p:cNvPr>
          <p:cNvSpPr/>
          <p:nvPr/>
        </p:nvSpPr>
        <p:spPr>
          <a:xfrm>
            <a:off x="546197" y="1001486"/>
            <a:ext cx="11249563" cy="1480457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7991F0-F831-6F65-77C1-DC7E757EE92B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E42D15-F39E-FDA1-359C-0CD3950FC61D}"/>
              </a:ext>
            </a:extLst>
          </p:cNvPr>
          <p:cNvSpPr txBox="1"/>
          <p:nvPr/>
        </p:nvSpPr>
        <p:spPr>
          <a:xfrm>
            <a:off x="1240972" y="1225724"/>
            <a:ext cx="9274628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Historical table is the Fact Table</a:t>
            </a:r>
            <a:r>
              <a:rPr lang="en-IN" sz="1600" dirty="0"/>
              <a:t>, containing daily stock-level data and multiple records for each company.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Summary Statistics table is the Dimension Table</a:t>
            </a:r>
            <a:r>
              <a:rPr lang="en-IN" sz="1600" dirty="0"/>
              <a:t>, containing company-level information, connected to the Historical table using a </a:t>
            </a:r>
            <a:r>
              <a:rPr lang="en-IN" sz="1600" b="1" dirty="0"/>
              <a:t>Many-to-One relationship</a:t>
            </a:r>
            <a:r>
              <a:rPr lang="en-IN" sz="1600" dirty="0"/>
              <a:t>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>
                <a:solidFill>
                  <a:srgbClr val="EBEBEB"/>
                </a:solidFill>
              </a:defRPr>
            </a:pPr>
            <a:endParaRPr sz="1700" dirty="0"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96198B-8B3E-7857-3FA4-8F567997D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048" y="2885653"/>
            <a:ext cx="7178476" cy="3416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6410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09890"/>
            <a:ext cx="3551678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n-IN" sz="2800" b="1" dirty="0">
                <a:solidFill>
                  <a:srgbClr val="F5F5F5"/>
                </a:solidFill>
                <a:latin typeface="Aptos"/>
              </a:rPr>
              <a:t>7</a:t>
            </a:r>
            <a:r>
              <a:rPr sz="2800" b="1" dirty="0">
                <a:solidFill>
                  <a:srgbClr val="F5F5F5"/>
                </a:solidFill>
                <a:latin typeface="Aptos"/>
              </a:rPr>
              <a:t>. Key KPIs &amp; Visuals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1398"/>
            <a:ext cx="3794116" cy="3231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 dirty="0">
                <a:solidFill>
                  <a:srgbClr val="B4B4B4"/>
                </a:solidFill>
                <a:latin typeface="Aptos"/>
              </a:rPr>
              <a:t>What each dashboard section helps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34440"/>
            <a:ext cx="5257800" cy="123444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399032"/>
            <a:ext cx="192024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>
                <a:solidFill>
                  <a:srgbClr val="1E90FF"/>
                </a:solidFill>
                <a:latin typeface="Aptos"/>
              </a:rPr>
              <a:t>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3514" y="1719072"/>
            <a:ext cx="46634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0" dirty="0">
                <a:solidFill>
                  <a:srgbClr val="F5F5F5"/>
                </a:solidFill>
                <a:latin typeface="Aptos"/>
              </a:rPr>
              <a:t>Total Return %, Average Daily Return and closing-price trends</a:t>
            </a:r>
            <a:endParaRPr lang="en-US" sz="1300" b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300" b="0" dirty="0">
                <a:solidFill>
                  <a:srgbClr val="F5F5F5"/>
                </a:solidFill>
                <a:latin typeface="Aptos"/>
              </a:rPr>
              <a:t>show stock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234440"/>
            <a:ext cx="5257800" cy="123444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29400" y="1399032"/>
            <a:ext cx="192024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>
                <a:solidFill>
                  <a:srgbClr val="1E90FF"/>
                </a:solidFill>
                <a:latin typeface="Aptos"/>
              </a:rPr>
              <a:t>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719072"/>
            <a:ext cx="46634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0" dirty="0">
                <a:solidFill>
                  <a:srgbClr val="F5F5F5"/>
                </a:solidFill>
                <a:latin typeface="Aptos"/>
              </a:rPr>
              <a:t>Volatility, Beta and Risk Category highlight differences in price</a:t>
            </a:r>
            <a:endParaRPr lang="en-US" sz="1300" b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300" b="0" dirty="0">
                <a:solidFill>
                  <a:srgbClr val="F5F5F5"/>
                </a:solidFill>
                <a:latin typeface="Aptos"/>
              </a:rPr>
              <a:t>fluctuation and sensitivity.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34640"/>
            <a:ext cx="5257800" cy="123444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999232"/>
            <a:ext cx="192024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>
                <a:solidFill>
                  <a:srgbClr val="1E90FF"/>
                </a:solidFill>
                <a:latin typeface="Aptos"/>
              </a:rPr>
              <a:t>Trading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24511"/>
            <a:ext cx="4227889" cy="49244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0" dirty="0">
                <a:solidFill>
                  <a:srgbClr val="F5F5F5"/>
                </a:solidFill>
                <a:latin typeface="Aptos"/>
              </a:rPr>
              <a:t>Trading Volume and Monthly Volume Trend reveal market</a:t>
            </a:r>
            <a:endParaRPr lang="en-US" sz="1300" b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300" b="0" dirty="0">
                <a:solidFill>
                  <a:srgbClr val="F5F5F5"/>
                </a:solidFill>
                <a:latin typeface="Aptos"/>
              </a:rPr>
              <a:t>activity and heavily traded stocks.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834640"/>
            <a:ext cx="5257800" cy="123444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2999232"/>
            <a:ext cx="192024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>
                <a:solidFill>
                  <a:srgbClr val="1E90FF"/>
                </a:solidFill>
                <a:latin typeface="Aptos"/>
              </a:rPr>
              <a:t>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324511"/>
            <a:ext cx="4418646" cy="49244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0" dirty="0">
                <a:solidFill>
                  <a:srgbClr val="F5F5F5"/>
                </a:solidFill>
                <a:latin typeface="Aptos"/>
              </a:rPr>
              <a:t>P/E, EPS and Price-to-Book provide company valuation and </a:t>
            </a:r>
            <a:endParaRPr lang="en-US" sz="1300" b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300" b="0" dirty="0">
                <a:solidFill>
                  <a:srgbClr val="F5F5F5"/>
                </a:solidFill>
                <a:latin typeface="Aptos"/>
              </a:rPr>
              <a:t>earnings context.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434840"/>
            <a:ext cx="5257800" cy="123444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599431"/>
            <a:ext cx="192024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>
                <a:solidFill>
                  <a:srgbClr val="1E90FF"/>
                </a:solidFill>
                <a:latin typeface="Aptos"/>
              </a:rPr>
              <a:t>Dividends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924711"/>
            <a:ext cx="3777894" cy="49244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0" dirty="0">
                <a:solidFill>
                  <a:srgbClr val="F5F5F5"/>
                </a:solidFill>
                <a:latin typeface="Aptos"/>
              </a:rPr>
              <a:t>Dividend contribution and dividend yield compare </a:t>
            </a:r>
            <a:endParaRPr lang="en-US" sz="1300" b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300" b="0" dirty="0">
                <a:solidFill>
                  <a:srgbClr val="F5F5F5"/>
                </a:solidFill>
                <a:latin typeface="Aptos"/>
              </a:rPr>
              <a:t>income-oriented characteristics.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434840"/>
            <a:ext cx="5257800" cy="123444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4599431"/>
            <a:ext cx="192024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>
                <a:solidFill>
                  <a:srgbClr val="1E90FF"/>
                </a:solidFill>
                <a:latin typeface="Aptos"/>
              </a:rPr>
              <a:t>Sector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924711"/>
            <a:ext cx="4343753" cy="49244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0" dirty="0">
                <a:solidFill>
                  <a:srgbClr val="F5F5F5"/>
                </a:solidFill>
                <a:latin typeface="Aptos"/>
              </a:rPr>
              <a:t>Sector-level visuals make it easier to compare companies </a:t>
            </a:r>
            <a:endParaRPr lang="en-US" sz="1300" b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300" b="0" dirty="0">
                <a:solidFill>
                  <a:srgbClr val="F5F5F5"/>
                </a:solidFill>
                <a:latin typeface="Aptos"/>
              </a:rPr>
              <a:t>across industries.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IN" sz="2800" b="1" dirty="0">
                <a:solidFill>
                  <a:srgbClr val="F5F5F5"/>
                </a:solidFill>
                <a:latin typeface="Aptos"/>
              </a:rPr>
              <a:t>8</a:t>
            </a:r>
            <a:r>
              <a:rPr sz="2800" b="1" dirty="0">
                <a:solidFill>
                  <a:srgbClr val="F5F5F5"/>
                </a:solidFill>
                <a:latin typeface="Aptos"/>
              </a:rPr>
              <a:t>. Slicers &amp; Interactivity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>
                <a:solidFill>
                  <a:srgbClr val="B4B4B4"/>
                </a:solidFill>
                <a:latin typeface="Aptos"/>
              </a:rPr>
              <a:t>Filters used to make the Power BI dashboard interactive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212080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527048"/>
            <a:ext cx="4754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1E90FF"/>
                </a:solidFill>
                <a:latin typeface="Aptos"/>
              </a:rPr>
              <a:t>Company 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7548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dirty="0">
                <a:solidFill>
                  <a:srgbClr val="F5F5F5"/>
                </a:solidFill>
                <a:latin typeface="Aptos"/>
              </a:rPr>
              <a:t>Allows the user to select a particular company and focus the visuals on that company.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25880"/>
            <a:ext cx="5212080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29400" y="1527048"/>
            <a:ext cx="4754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E90FF"/>
                </a:solidFill>
                <a:latin typeface="Aptos"/>
              </a:rPr>
              <a:t>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965960"/>
            <a:ext cx="47548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5F5"/>
                </a:solidFill>
                <a:latin typeface="Aptos"/>
              </a:rPr>
              <a:t>Allows the user to filter the dashboard and analyze data for a selected year.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11880"/>
            <a:ext cx="5212080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813048"/>
            <a:ext cx="4754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E90FF"/>
                </a:solidFill>
                <a:latin typeface="Aptos"/>
              </a:rPr>
              <a:t>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51960"/>
            <a:ext cx="47548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5F5"/>
                </a:solidFill>
                <a:latin typeface="Aptos"/>
              </a:rPr>
              <a:t>Allows the user to view trading activity and performance for a selected month.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611880"/>
            <a:ext cx="5212080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3813048"/>
            <a:ext cx="4754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E90FF"/>
                </a:solidFill>
                <a:latin typeface="Aptos"/>
              </a:rPr>
              <a:t>Sector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51960"/>
            <a:ext cx="47548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5F5"/>
                </a:solidFill>
                <a:latin typeface="Aptos"/>
              </a:rPr>
              <a:t>Allows the user to compare companies and performance within a selected sector.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064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4B4B4"/>
                </a:solidFill>
                <a:latin typeface="Aptos"/>
              </a:rPr>
              <a:t>These slicers help users interact with the dashboard and analyze the data from different perspectives.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09890"/>
            <a:ext cx="7372724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IN" sz="2800" b="1" dirty="0">
                <a:solidFill>
                  <a:srgbClr val="F5F5F5"/>
                </a:solidFill>
                <a:latin typeface="Aptos"/>
              </a:rPr>
              <a:t>9.Monthly Trading Volume Trend – Line Chart</a:t>
            </a:r>
            <a:endParaRPr sz="2800" b="1" dirty="0">
              <a:solidFill>
                <a:srgbClr val="F5F5F5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D15DCD-2E7D-895C-7E3C-D763BB1C8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6514" y="1325879"/>
            <a:ext cx="6164744" cy="4051663"/>
          </a:xfrm>
          <a:prstGeom prst="rect">
            <a:avLst/>
          </a:prstGeom>
        </p:spPr>
      </p:pic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DC690313-EEA2-90F7-0783-0FF8B6DF3A3C}"/>
              </a:ext>
            </a:extLst>
          </p:cNvPr>
          <p:cNvSpPr/>
          <p:nvPr/>
        </p:nvSpPr>
        <p:spPr>
          <a:xfrm>
            <a:off x="594360" y="1447024"/>
            <a:ext cx="4310743" cy="1741694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 shows how the </a:t>
            </a:r>
            <a:r>
              <a:rPr lang="en-IN" b="1" dirty="0"/>
              <a:t>total trading volume changes month by month</a:t>
            </a:r>
            <a:r>
              <a:rPr lang="en-IN" dirty="0"/>
              <a:t>.</a:t>
            </a:r>
            <a:endParaRPr dirty="0"/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56A46DEB-9FF7-34F4-2C23-52C057082B85}"/>
              </a:ext>
            </a:extLst>
          </p:cNvPr>
          <p:cNvSpPr/>
          <p:nvPr/>
        </p:nvSpPr>
        <p:spPr>
          <a:xfrm>
            <a:off x="594359" y="3548742"/>
            <a:ext cx="4310743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To identify </a:t>
            </a:r>
            <a:r>
              <a:rPr lang="en-IN" b="1" dirty="0"/>
              <a:t>which months had higher or lower trading activity</a:t>
            </a:r>
            <a:r>
              <a:rPr lang="en-I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5788ED-67CD-DA5B-08F9-AA853CB03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2CA044-34EE-6ED9-BA22-D40C9079D386}"/>
              </a:ext>
            </a:extLst>
          </p:cNvPr>
          <p:cNvSpPr txBox="1"/>
          <p:nvPr/>
        </p:nvSpPr>
        <p:spPr>
          <a:xfrm>
            <a:off x="594360" y="309890"/>
            <a:ext cx="6958636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US" sz="2800" b="1" dirty="0">
                <a:solidFill>
                  <a:srgbClr val="F5F5F5"/>
                </a:solidFill>
                <a:latin typeface="Aptos"/>
              </a:rPr>
              <a:t>10.</a:t>
            </a:r>
            <a:r>
              <a:rPr lang="en-IN" sz="2800" b="1" dirty="0">
                <a:solidFill>
                  <a:srgbClr val="F5F5F5"/>
                </a:solidFill>
                <a:latin typeface="Aptos"/>
              </a:rPr>
              <a:t>Sector-wise Average Return – Tree Map</a:t>
            </a:r>
            <a:endParaRPr lang="en-US" sz="2800" b="1" dirty="0">
              <a:solidFill>
                <a:srgbClr val="F5F5F5"/>
              </a:solidFill>
              <a:latin typeface="Apto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F4C0C-7116-E987-F975-0FBAC9E4F8D3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68876F69-9E29-FA4F-3581-B75951E30244}"/>
              </a:ext>
            </a:extLst>
          </p:cNvPr>
          <p:cNvSpPr/>
          <p:nvPr/>
        </p:nvSpPr>
        <p:spPr>
          <a:xfrm>
            <a:off x="594360" y="1447024"/>
            <a:ext cx="4310743" cy="1741694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 compares the </a:t>
            </a:r>
            <a:r>
              <a:rPr lang="en-IN" b="1" dirty="0"/>
              <a:t>average stock return across different sectors</a:t>
            </a:r>
            <a:r>
              <a:rPr lang="en-IN" dirty="0"/>
              <a:t>.</a:t>
            </a:r>
            <a:endParaRPr dirty="0"/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C8B88396-3A47-E38B-B574-E1EA422E55AD}"/>
              </a:ext>
            </a:extLst>
          </p:cNvPr>
          <p:cNvSpPr/>
          <p:nvPr/>
        </p:nvSpPr>
        <p:spPr>
          <a:xfrm>
            <a:off x="594359" y="3548742"/>
            <a:ext cx="4310743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To understand </a:t>
            </a:r>
            <a:r>
              <a:rPr lang="en-IN" b="1" dirty="0"/>
              <a:t>which sectors performed better or lower based on average return</a:t>
            </a:r>
            <a:r>
              <a:rPr lang="en-IN" dirty="0"/>
              <a:t>.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19D26D-C485-415C-32BC-7AFDE9D0E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284" y="1447024"/>
            <a:ext cx="6188476" cy="393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2141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1B48A3-D35A-5B00-E72F-661F52AF2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C644C0-4CFE-C261-598F-DD7B7EF91946}"/>
              </a:ext>
            </a:extLst>
          </p:cNvPr>
          <p:cNvSpPr txBox="1"/>
          <p:nvPr/>
        </p:nvSpPr>
        <p:spPr>
          <a:xfrm>
            <a:off x="594360" y="309890"/>
            <a:ext cx="8455072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US" sz="2800" b="1" dirty="0">
                <a:solidFill>
                  <a:srgbClr val="F5F5F5"/>
                </a:solidFill>
                <a:latin typeface="Aptos"/>
              </a:rPr>
              <a:t>11.</a:t>
            </a:r>
            <a:r>
              <a:rPr lang="en-IN" sz="2800" b="1" dirty="0">
                <a:solidFill>
                  <a:srgbClr val="F5F5F5"/>
                </a:solidFill>
                <a:latin typeface="Aptos"/>
              </a:rPr>
              <a:t>Top 5 Stocks by Market Capitalization - </a:t>
            </a:r>
            <a:r>
              <a:rPr lang="en-IN" sz="2800" b="1" dirty="0" err="1">
                <a:solidFill>
                  <a:srgbClr val="F5F5F5"/>
                </a:solidFill>
                <a:latin typeface="Aptos"/>
              </a:rPr>
              <a:t>BarChart</a:t>
            </a:r>
            <a:endParaRPr lang="en-US" sz="2800" b="1" dirty="0">
              <a:solidFill>
                <a:srgbClr val="F5F5F5"/>
              </a:solidFill>
              <a:latin typeface="Apto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42844A-A76B-74C6-EE6A-CB17E2346521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D13DA773-DFB7-D2F2-D833-68A8F5FE0FC6}"/>
              </a:ext>
            </a:extLst>
          </p:cNvPr>
          <p:cNvSpPr/>
          <p:nvPr/>
        </p:nvSpPr>
        <p:spPr>
          <a:xfrm>
            <a:off x="594360" y="1447024"/>
            <a:ext cx="4310743" cy="1741694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 displays the </a:t>
            </a:r>
            <a:r>
              <a:rPr lang="en-IN" b="1" dirty="0"/>
              <a:t>five companies with the highest market capitalization</a:t>
            </a:r>
            <a:r>
              <a:rPr lang="en-IN" dirty="0"/>
              <a:t>.</a:t>
            </a:r>
            <a:endParaRPr dirty="0"/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537EBA13-A1E0-BA2E-ABD3-97B731CE7182}"/>
              </a:ext>
            </a:extLst>
          </p:cNvPr>
          <p:cNvSpPr/>
          <p:nvPr/>
        </p:nvSpPr>
        <p:spPr>
          <a:xfrm>
            <a:off x="594359" y="3548742"/>
            <a:ext cx="4310743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To identify the companies with the </a:t>
            </a:r>
            <a:r>
              <a:rPr lang="en-IN" b="1" dirty="0"/>
              <a:t>largest market value</a:t>
            </a:r>
            <a:r>
              <a:rPr lang="en-IN" dirty="0"/>
              <a:t> in the dataset.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6B50A7-F939-BEAE-790D-750E3A4BC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255" y="1447025"/>
            <a:ext cx="5954485" cy="393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06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454E3-FC54-D366-D7B3-F2F33CFA2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063678-7638-F7F7-FFDA-D35BCBB20152}"/>
              </a:ext>
            </a:extLst>
          </p:cNvPr>
          <p:cNvSpPr txBox="1"/>
          <p:nvPr/>
        </p:nvSpPr>
        <p:spPr>
          <a:xfrm>
            <a:off x="594360" y="309890"/>
            <a:ext cx="7041864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US" sz="2800" b="1" dirty="0">
                <a:solidFill>
                  <a:srgbClr val="F5F5F5"/>
                </a:solidFill>
                <a:latin typeface="Aptos"/>
              </a:rPr>
              <a:t>12.</a:t>
            </a:r>
            <a:r>
              <a:rPr lang="en-IN" sz="2800" b="1" dirty="0">
                <a:solidFill>
                  <a:srgbClr val="F5F5F5"/>
                </a:solidFill>
                <a:latin typeface="Aptos"/>
              </a:rPr>
              <a:t>Top 5 Stocks by Total Return – Bar Chart</a:t>
            </a:r>
            <a:endParaRPr lang="en-US" sz="2800" b="1" dirty="0">
              <a:solidFill>
                <a:srgbClr val="F5F5F5"/>
              </a:solidFill>
              <a:latin typeface="Apto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6A7E8C-E821-0626-53B0-F09EC350505C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94B78AB6-CA0F-E606-1AFC-F2740CC5E429}"/>
              </a:ext>
            </a:extLst>
          </p:cNvPr>
          <p:cNvSpPr/>
          <p:nvPr/>
        </p:nvSpPr>
        <p:spPr>
          <a:xfrm>
            <a:off x="594360" y="1447024"/>
            <a:ext cx="4310743" cy="1741694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 shows the </a:t>
            </a:r>
            <a:r>
              <a:rPr lang="en-IN" b="1" dirty="0"/>
              <a:t>five companies with the highest total return</a:t>
            </a:r>
            <a:r>
              <a:rPr lang="en-IN" dirty="0"/>
              <a:t> during the selected period.</a:t>
            </a:r>
            <a:endParaRPr dirty="0"/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855EEA7F-A6C5-0497-6385-829E93B2F756}"/>
              </a:ext>
            </a:extLst>
          </p:cNvPr>
          <p:cNvSpPr/>
          <p:nvPr/>
        </p:nvSpPr>
        <p:spPr>
          <a:xfrm>
            <a:off x="594359" y="3548742"/>
            <a:ext cx="4310743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To compare the historical return of different companies.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E31AC6-82FD-59AA-773F-4A9C4DA79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5406" y="1447024"/>
            <a:ext cx="5780314" cy="393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6505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903C5C-D7BE-06AF-1E14-A8452EE50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4CA708-B58A-9C52-B1FC-A25E7A43A421}"/>
              </a:ext>
            </a:extLst>
          </p:cNvPr>
          <p:cNvSpPr txBox="1"/>
          <p:nvPr/>
        </p:nvSpPr>
        <p:spPr>
          <a:xfrm>
            <a:off x="594360" y="309890"/>
            <a:ext cx="6796669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US" sz="2800" b="1" dirty="0">
                <a:solidFill>
                  <a:srgbClr val="F5F5F5"/>
                </a:solidFill>
                <a:latin typeface="Aptos"/>
              </a:rPr>
              <a:t>13.Top 5 Most Volatile Stocks – Bar Chart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58E588-B710-8A23-659D-206E1AC71DE0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E155890C-896B-F13A-96EC-CE9FC8D098CA}"/>
              </a:ext>
            </a:extLst>
          </p:cNvPr>
          <p:cNvSpPr/>
          <p:nvPr/>
        </p:nvSpPr>
        <p:spPr>
          <a:xfrm>
            <a:off x="594360" y="1447024"/>
            <a:ext cx="4310743" cy="1741694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 shows the </a:t>
            </a:r>
            <a:r>
              <a:rPr lang="en-IN" b="1" dirty="0"/>
              <a:t>five stocks with the highest volatility</a:t>
            </a:r>
            <a:r>
              <a:rPr lang="en-IN" dirty="0"/>
              <a:t>.</a:t>
            </a:r>
            <a:endParaRPr dirty="0"/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7383431C-4791-4870-5A0F-AA508197792A}"/>
              </a:ext>
            </a:extLst>
          </p:cNvPr>
          <p:cNvSpPr/>
          <p:nvPr/>
        </p:nvSpPr>
        <p:spPr>
          <a:xfrm>
            <a:off x="594359" y="3548742"/>
            <a:ext cx="4310743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To identify stocks whose prices showed </a:t>
            </a:r>
            <a:r>
              <a:rPr lang="en-IN" b="1" dirty="0"/>
              <a:t>larger fluctuations</a:t>
            </a:r>
            <a:r>
              <a:rPr lang="en-IN" dirty="0"/>
              <a:t>.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36D9B4-11A1-6A5F-F944-0D8345878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057" y="1447024"/>
            <a:ext cx="6078583" cy="3925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8767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02DD72-2C29-6476-71CC-76164794D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CB03C3-2A20-454D-8B1B-4BB11E4BC5B6}"/>
              </a:ext>
            </a:extLst>
          </p:cNvPr>
          <p:cNvSpPr txBox="1"/>
          <p:nvPr/>
        </p:nvSpPr>
        <p:spPr>
          <a:xfrm>
            <a:off x="594360" y="309890"/>
            <a:ext cx="6906121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US" sz="2800" b="1" dirty="0">
                <a:solidFill>
                  <a:srgbClr val="F5F5F5"/>
                </a:solidFill>
                <a:latin typeface="Aptos"/>
              </a:rPr>
              <a:t>14.Open vs Close Price Trend – Line Chart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471B4E-2441-784D-393D-09CFAB60BF38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034DEF9-5F7E-BBAF-8FD3-47B98AE00640}"/>
              </a:ext>
            </a:extLst>
          </p:cNvPr>
          <p:cNvSpPr/>
          <p:nvPr/>
        </p:nvSpPr>
        <p:spPr>
          <a:xfrm>
            <a:off x="594360" y="1447024"/>
            <a:ext cx="4310743" cy="1741694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 compares the </a:t>
            </a:r>
            <a:r>
              <a:rPr lang="en-IN" b="1" dirty="0"/>
              <a:t>opening and closing prices</a:t>
            </a:r>
            <a:r>
              <a:rPr lang="en-IN" dirty="0"/>
              <a:t> of a stock over time.</a:t>
            </a:r>
            <a:endParaRPr dirty="0"/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770F4DB9-DBE9-076B-C2D4-5F1482B1B8FD}"/>
              </a:ext>
            </a:extLst>
          </p:cNvPr>
          <p:cNvSpPr/>
          <p:nvPr/>
        </p:nvSpPr>
        <p:spPr>
          <a:xfrm>
            <a:off x="594359" y="3548742"/>
            <a:ext cx="4310743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To understand how the stock price </a:t>
            </a:r>
            <a:r>
              <a:rPr lang="en-IN" b="1" dirty="0"/>
              <a:t>moves during the selected period</a:t>
            </a:r>
            <a:r>
              <a:rPr lang="en-IN" dirty="0"/>
              <a:t>.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0526A3-81A3-1A49-5E60-474FDC6A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943" y="1447024"/>
            <a:ext cx="6073753" cy="393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3153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F7433D-9DEE-1A9B-9375-2CFFD527E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418B6D-DE6D-A960-6B13-E46D72FBF9F5}"/>
              </a:ext>
            </a:extLst>
          </p:cNvPr>
          <p:cNvSpPr txBox="1"/>
          <p:nvPr/>
        </p:nvSpPr>
        <p:spPr>
          <a:xfrm>
            <a:off x="594360" y="309890"/>
            <a:ext cx="6822573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US" sz="2800" b="1" dirty="0">
                <a:solidFill>
                  <a:srgbClr val="F5F5F5"/>
                </a:solidFill>
                <a:latin typeface="Aptos"/>
              </a:rPr>
              <a:t>15.Stock Closing Price Trend – Line Chart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6B2684-DB05-2B53-59EE-87A0A2D13866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DAB351DE-7014-D226-EA72-83883E83CE1C}"/>
              </a:ext>
            </a:extLst>
          </p:cNvPr>
          <p:cNvSpPr/>
          <p:nvPr/>
        </p:nvSpPr>
        <p:spPr>
          <a:xfrm>
            <a:off x="594360" y="1447024"/>
            <a:ext cx="4310743" cy="1741694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 shows how the </a:t>
            </a:r>
            <a:r>
              <a:rPr lang="en-IN" b="1" dirty="0"/>
              <a:t>closing price changes over time</a:t>
            </a:r>
            <a:r>
              <a:rPr lang="en-IN" dirty="0"/>
              <a:t>.</a:t>
            </a:r>
            <a:endParaRPr dirty="0"/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2ADE3CCC-7884-EC4A-F227-05475288384C}"/>
              </a:ext>
            </a:extLst>
          </p:cNvPr>
          <p:cNvSpPr/>
          <p:nvPr/>
        </p:nvSpPr>
        <p:spPr>
          <a:xfrm>
            <a:off x="594359" y="3548742"/>
            <a:ext cx="4310743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Closing price is useful for understanding the </a:t>
            </a:r>
            <a:r>
              <a:rPr lang="en-IN" b="1" dirty="0"/>
              <a:t>historical price trend</a:t>
            </a:r>
            <a:r>
              <a:rPr lang="en-IN" dirty="0"/>
              <a:t> of a selected stock.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A37358-891D-E38D-2DD0-354D3E968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124" y="1447024"/>
            <a:ext cx="6303190" cy="393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2592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CB0690-D6BC-D96C-0A57-2FB90D72B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A9E7E5-F2FA-9FD6-9D3D-D72FBA0AF8B2}"/>
              </a:ext>
            </a:extLst>
          </p:cNvPr>
          <p:cNvSpPr txBox="1"/>
          <p:nvPr/>
        </p:nvSpPr>
        <p:spPr>
          <a:xfrm>
            <a:off x="594360" y="309890"/>
            <a:ext cx="7616700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US" sz="2800" b="1" dirty="0">
                <a:solidFill>
                  <a:srgbClr val="F5F5F5"/>
                </a:solidFill>
                <a:latin typeface="Aptos"/>
              </a:rPr>
              <a:t>16.</a:t>
            </a:r>
            <a:r>
              <a:rPr lang="en-IN" sz="2800" b="1" dirty="0">
                <a:solidFill>
                  <a:srgbClr val="F5F5F5"/>
                </a:solidFill>
                <a:latin typeface="Aptos"/>
              </a:rPr>
              <a:t>Top 5 Stocks by 520Week Range - Bar Chart</a:t>
            </a:r>
            <a:endParaRPr lang="en-US" sz="2800" b="1" dirty="0">
              <a:solidFill>
                <a:srgbClr val="F5F5F5"/>
              </a:solidFill>
              <a:latin typeface="Apto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0DF1FF-436A-71CA-96E5-E0CFEB568B53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B6A3607D-1192-0227-5D02-66B3545EBEA2}"/>
              </a:ext>
            </a:extLst>
          </p:cNvPr>
          <p:cNvSpPr/>
          <p:nvPr/>
        </p:nvSpPr>
        <p:spPr>
          <a:xfrm>
            <a:off x="594360" y="1447024"/>
            <a:ext cx="4310743" cy="1741694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 compares the </a:t>
            </a:r>
            <a:r>
              <a:rPr lang="en-IN" b="1" dirty="0"/>
              <a:t>52-week price range of different stocks</a:t>
            </a:r>
            <a:r>
              <a:rPr lang="en-IN" dirty="0"/>
              <a:t>.</a:t>
            </a:r>
            <a:endParaRPr dirty="0"/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850A897A-0677-B9A2-0AA6-5A75BE389A03}"/>
              </a:ext>
            </a:extLst>
          </p:cNvPr>
          <p:cNvSpPr/>
          <p:nvPr/>
        </p:nvSpPr>
        <p:spPr>
          <a:xfrm>
            <a:off x="594359" y="3548742"/>
            <a:ext cx="4310743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To understand which stocks had a </a:t>
            </a:r>
            <a:r>
              <a:rPr lang="en-IN" b="1" dirty="0"/>
              <a:t>wider price movement over the past year</a:t>
            </a:r>
            <a:r>
              <a:rPr lang="en-IN" dirty="0"/>
              <a:t>.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C3DAA-4344-5C9B-B3BB-32602CA1E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431" y="1447024"/>
            <a:ext cx="5777289" cy="393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554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340111-4C20-6C1B-06E3-818FC861D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510D0B-4A9D-FC28-C015-0DFF793066F3}"/>
              </a:ext>
            </a:extLst>
          </p:cNvPr>
          <p:cNvSpPr txBox="1"/>
          <p:nvPr/>
        </p:nvSpPr>
        <p:spPr>
          <a:xfrm>
            <a:off x="594360" y="309890"/>
            <a:ext cx="6890284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US" sz="2800" b="1" dirty="0">
                <a:solidFill>
                  <a:srgbClr val="F5F5F5"/>
                </a:solidFill>
                <a:latin typeface="Aptos"/>
              </a:rPr>
              <a:t>17.Stocks by Risk Category – Donut Chart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4EC01A-C179-1781-36A8-B084168E1E0B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A2D0393-9C89-A953-28D9-EB53C2C2F51C}"/>
              </a:ext>
            </a:extLst>
          </p:cNvPr>
          <p:cNvSpPr/>
          <p:nvPr/>
        </p:nvSpPr>
        <p:spPr>
          <a:xfrm>
            <a:off x="594360" y="1447024"/>
            <a:ext cx="4310743" cy="1741694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 divides stocks into </a:t>
            </a:r>
            <a:r>
              <a:rPr lang="en-IN" b="1" dirty="0"/>
              <a:t>Low Risk, Medium Risk and High Risk</a:t>
            </a:r>
            <a:r>
              <a:rPr lang="en-IN" dirty="0"/>
              <a:t> categories based on the volatility classification used in my project.</a:t>
            </a:r>
            <a:endParaRPr dirty="0"/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B629B493-ADCF-7AF6-90D5-105BA9510365}"/>
              </a:ext>
            </a:extLst>
          </p:cNvPr>
          <p:cNvSpPr/>
          <p:nvPr/>
        </p:nvSpPr>
        <p:spPr>
          <a:xfrm>
            <a:off x="594359" y="3548742"/>
            <a:ext cx="4310743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To get a quick view of the </a:t>
            </a:r>
            <a:r>
              <a:rPr lang="en-IN" b="1" dirty="0"/>
              <a:t>risk distribution</a:t>
            </a:r>
            <a:r>
              <a:rPr lang="en-IN" dirty="0"/>
              <a:t> among the companies.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DDEBF0-7C50-9CB9-0E4B-B6037A57E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8968" y="1447022"/>
            <a:ext cx="6138672" cy="393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2377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A28CAC-5EB6-12F8-D345-773D76F20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C53B5B-D41A-CFAF-1408-5C3F682D818D}"/>
              </a:ext>
            </a:extLst>
          </p:cNvPr>
          <p:cNvSpPr txBox="1"/>
          <p:nvPr/>
        </p:nvSpPr>
        <p:spPr>
          <a:xfrm>
            <a:off x="594360" y="309890"/>
            <a:ext cx="8050858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US" sz="2800" b="1" dirty="0">
                <a:solidFill>
                  <a:srgbClr val="F5F5F5"/>
                </a:solidFill>
                <a:latin typeface="Aptos"/>
              </a:rPr>
              <a:t>18. Average Daily Return by Sector – Donut Chart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55F010-828C-D734-41AA-55746CCC8B9F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E2A4A034-4D1F-0115-B324-3A890A2473DE}"/>
              </a:ext>
            </a:extLst>
          </p:cNvPr>
          <p:cNvSpPr/>
          <p:nvPr/>
        </p:nvSpPr>
        <p:spPr>
          <a:xfrm>
            <a:off x="594360" y="1447024"/>
            <a:ext cx="4310743" cy="1741694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 compares the </a:t>
            </a:r>
            <a:r>
              <a:rPr lang="en-IN" b="1" dirty="0"/>
              <a:t>average daily return of different sectors</a:t>
            </a:r>
            <a:r>
              <a:rPr lang="en-IN" dirty="0"/>
              <a:t>.</a:t>
            </a:r>
            <a:endParaRPr dirty="0"/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3E91FD7F-CA41-6A33-B76A-3B5B986AB178}"/>
              </a:ext>
            </a:extLst>
          </p:cNvPr>
          <p:cNvSpPr/>
          <p:nvPr/>
        </p:nvSpPr>
        <p:spPr>
          <a:xfrm>
            <a:off x="594359" y="3548742"/>
            <a:ext cx="4310743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To understand how daily stock performance differs across sectors.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B61484-A015-52A1-A293-DC867CA17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6914" y="1447024"/>
            <a:ext cx="6517515" cy="393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2525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18164C-00BD-6EE8-2BF9-D2CF9E00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0A414D-6B27-E227-4066-40EF20938F96}"/>
              </a:ext>
            </a:extLst>
          </p:cNvPr>
          <p:cNvSpPr txBox="1"/>
          <p:nvPr/>
        </p:nvSpPr>
        <p:spPr>
          <a:xfrm>
            <a:off x="594360" y="309890"/>
            <a:ext cx="7685117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US" sz="2800" b="1" dirty="0">
                <a:solidFill>
                  <a:srgbClr val="F5F5F5"/>
                </a:solidFill>
                <a:latin typeface="Aptos"/>
              </a:rPr>
              <a:t>19. Top 5 Stocks By Trading Volume – Bar Chart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85C573-66F0-3288-B222-2F48D2E0BAF0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1E4AE075-61F5-2618-5B78-9297674AF362}"/>
              </a:ext>
            </a:extLst>
          </p:cNvPr>
          <p:cNvSpPr/>
          <p:nvPr/>
        </p:nvSpPr>
        <p:spPr>
          <a:xfrm>
            <a:off x="594360" y="1447024"/>
            <a:ext cx="4310743" cy="1741694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 displays the </a:t>
            </a:r>
            <a:r>
              <a:rPr lang="en-IN" b="1" dirty="0"/>
              <a:t>5 companies with the highest trading volume</a:t>
            </a:r>
            <a:r>
              <a:rPr lang="en-IN" dirty="0"/>
              <a:t>.</a:t>
            </a:r>
            <a:endParaRPr dirty="0"/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992902DA-4220-CCF5-DF36-E47A209E4463}"/>
              </a:ext>
            </a:extLst>
          </p:cNvPr>
          <p:cNvSpPr/>
          <p:nvPr/>
        </p:nvSpPr>
        <p:spPr>
          <a:xfrm>
            <a:off x="594359" y="3548742"/>
            <a:ext cx="4310743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To identify the companies with </a:t>
            </a:r>
            <a:r>
              <a:rPr lang="en-IN" b="1" dirty="0"/>
              <a:t>higher trading activity</a:t>
            </a:r>
            <a:r>
              <a:rPr lang="en-IN" dirty="0"/>
              <a:t>.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5A0E58-A9AB-4C99-47A9-91165ADFD3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704" y="1538814"/>
            <a:ext cx="6392055" cy="3838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8075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FD60A3-3040-ACD2-306E-8BA459B10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A3EDF8-8A78-5C07-A784-7813B294C514}"/>
              </a:ext>
            </a:extLst>
          </p:cNvPr>
          <p:cNvSpPr txBox="1"/>
          <p:nvPr/>
        </p:nvSpPr>
        <p:spPr>
          <a:xfrm>
            <a:off x="594360" y="309890"/>
            <a:ext cx="7598747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US" sz="2800" b="1" dirty="0">
                <a:solidFill>
                  <a:srgbClr val="F5F5F5"/>
                </a:solidFill>
                <a:latin typeface="Aptos"/>
              </a:rPr>
              <a:t>20. Average EPS Average by Sector – Bar Chart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02AE4A-D64E-6923-58C4-5B91D5DDBAD7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83096450-1D6C-8F80-5F7C-1BDAC762E97F}"/>
              </a:ext>
            </a:extLst>
          </p:cNvPr>
          <p:cNvSpPr/>
          <p:nvPr/>
        </p:nvSpPr>
        <p:spPr>
          <a:xfrm>
            <a:off x="594360" y="1447024"/>
            <a:ext cx="4310743" cy="1741694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 compares the </a:t>
            </a:r>
            <a:r>
              <a:rPr lang="en-IN" b="1" dirty="0"/>
              <a:t>average Earnings Per Share across sectors</a:t>
            </a:r>
            <a:r>
              <a:rPr lang="en-IN" dirty="0"/>
              <a:t>.</a:t>
            </a:r>
            <a:endParaRPr dirty="0"/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ECD0B4FF-4518-DFD2-0C88-9B4BFDF44887}"/>
              </a:ext>
            </a:extLst>
          </p:cNvPr>
          <p:cNvSpPr/>
          <p:nvPr/>
        </p:nvSpPr>
        <p:spPr>
          <a:xfrm>
            <a:off x="594359" y="3548742"/>
            <a:ext cx="4310743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EPS helps understand the </a:t>
            </a:r>
            <a:r>
              <a:rPr lang="en-IN" b="1" dirty="0"/>
              <a:t>earnings generated per share</a:t>
            </a:r>
            <a:r>
              <a:rPr lang="en-IN" dirty="0"/>
              <a:t>, so comparing it by sector gives a sector-level view of earnings.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CA06BC-2F0D-8BE2-B65D-D7479AE87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1811" y="1447024"/>
            <a:ext cx="6380417" cy="393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8542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F42B51-6111-F9D2-AB62-834FA5B14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4F8362-35B3-7C32-168B-6F856CCAD24C}"/>
              </a:ext>
            </a:extLst>
          </p:cNvPr>
          <p:cNvSpPr txBox="1"/>
          <p:nvPr/>
        </p:nvSpPr>
        <p:spPr>
          <a:xfrm>
            <a:off x="594360" y="309890"/>
            <a:ext cx="7551234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US" sz="2800" b="1" dirty="0">
                <a:solidFill>
                  <a:srgbClr val="F5F5F5"/>
                </a:solidFill>
                <a:latin typeface="Aptos"/>
              </a:rPr>
              <a:t>21. Market Capitalization by Sector - </a:t>
            </a:r>
            <a:r>
              <a:rPr lang="en-US" sz="2800" b="1" dirty="0" err="1">
                <a:solidFill>
                  <a:srgbClr val="F5F5F5"/>
                </a:solidFill>
                <a:latin typeface="Aptos"/>
              </a:rPr>
              <a:t>Treemap</a:t>
            </a:r>
            <a:endParaRPr lang="en-US" sz="2800" b="1" dirty="0">
              <a:solidFill>
                <a:srgbClr val="F5F5F5"/>
              </a:solidFill>
              <a:latin typeface="Apto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320B2E-7BA1-10F5-8309-60531D721C73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A17629E5-6696-F423-0A4D-AABA2E83E630}"/>
              </a:ext>
            </a:extLst>
          </p:cNvPr>
          <p:cNvSpPr/>
          <p:nvPr/>
        </p:nvSpPr>
        <p:spPr>
          <a:xfrm>
            <a:off x="594360" y="1447024"/>
            <a:ext cx="4310743" cy="1741694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 shows the </a:t>
            </a:r>
            <a:r>
              <a:rPr lang="en-IN" b="1" dirty="0"/>
              <a:t>total market capitalization contributed by each sector</a:t>
            </a:r>
            <a:r>
              <a:rPr lang="en-IN" dirty="0"/>
              <a:t>.</a:t>
            </a:r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0F357195-E0DD-3CFB-11AE-D7FCC9B56487}"/>
              </a:ext>
            </a:extLst>
          </p:cNvPr>
          <p:cNvSpPr/>
          <p:nvPr/>
        </p:nvSpPr>
        <p:spPr>
          <a:xfrm>
            <a:off x="594359" y="3548742"/>
            <a:ext cx="4310743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To understand which sectors have a </a:t>
            </a:r>
            <a:r>
              <a:rPr lang="en-IN" b="1" dirty="0"/>
              <a:t>larger share of the total market capitalization</a:t>
            </a:r>
            <a:r>
              <a:rPr lang="en-IN" dirty="0"/>
              <a:t> in my dataset.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C5FA5C-FE4B-21D0-9809-9BB890BD2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2086" y="1447024"/>
            <a:ext cx="6345554" cy="393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4407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CF8A42-0924-614C-B859-A7868A7D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F6B4CB-A5DA-2009-640F-F51D28DDA024}"/>
              </a:ext>
            </a:extLst>
          </p:cNvPr>
          <p:cNvSpPr txBox="1"/>
          <p:nvPr/>
        </p:nvSpPr>
        <p:spPr>
          <a:xfrm>
            <a:off x="594360" y="309890"/>
            <a:ext cx="8277779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US" sz="2800" b="1" dirty="0">
                <a:solidFill>
                  <a:srgbClr val="F5F5F5"/>
                </a:solidFill>
                <a:latin typeface="Aptos"/>
              </a:rPr>
              <a:t>22. Dividend Contribution by Sector – Donut Chart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5A4829-1014-5E29-8F25-0BB4C2680C72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640ECE81-B712-A6DB-4518-1EDDD0E856F6}"/>
              </a:ext>
            </a:extLst>
          </p:cNvPr>
          <p:cNvSpPr/>
          <p:nvPr/>
        </p:nvSpPr>
        <p:spPr>
          <a:xfrm>
            <a:off x="594360" y="1447024"/>
            <a:ext cx="4310743" cy="1741694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 shows the </a:t>
            </a:r>
            <a:r>
              <a:rPr lang="en-IN" b="1" dirty="0"/>
              <a:t>dividend contribution from different sectors</a:t>
            </a:r>
            <a:r>
              <a:rPr lang="en-IN" dirty="0"/>
              <a:t>.</a:t>
            </a:r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33898F31-127F-B625-6DB7-F3D1CBF0F1E7}"/>
              </a:ext>
            </a:extLst>
          </p:cNvPr>
          <p:cNvSpPr/>
          <p:nvPr/>
        </p:nvSpPr>
        <p:spPr>
          <a:xfrm>
            <a:off x="594359" y="3548742"/>
            <a:ext cx="4310743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To understand how dividend payments are distributed across sectors.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E0901A-C714-030D-B03D-D304F25C6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1202" y="1447024"/>
            <a:ext cx="6126438" cy="393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1872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8B7B70-4867-1D2E-A745-6819B54A2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D4FD89-0698-A1BA-0E9D-73D8CE9342DA}"/>
              </a:ext>
            </a:extLst>
          </p:cNvPr>
          <p:cNvSpPr txBox="1"/>
          <p:nvPr/>
        </p:nvSpPr>
        <p:spPr>
          <a:xfrm>
            <a:off x="594360" y="309890"/>
            <a:ext cx="7012945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lang="en-US" sz="2800" b="1" dirty="0">
                <a:solidFill>
                  <a:srgbClr val="F5F5F5"/>
                </a:solidFill>
                <a:latin typeface="Aptos"/>
              </a:rPr>
              <a:t>23. Dividend Yield by Sector – Donut Chart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D3B71B-AC5D-53F8-88BD-158B894FF1F0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2595502D-82CE-E064-6441-C3A6FEC5C22B}"/>
              </a:ext>
            </a:extLst>
          </p:cNvPr>
          <p:cNvSpPr/>
          <p:nvPr/>
        </p:nvSpPr>
        <p:spPr>
          <a:xfrm>
            <a:off x="594360" y="1447024"/>
            <a:ext cx="4310743" cy="1741694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 shows the </a:t>
            </a:r>
            <a:r>
              <a:rPr lang="en-IN" b="1" dirty="0"/>
              <a:t>average dividend yield across different sectors</a:t>
            </a:r>
            <a:r>
              <a:rPr lang="en-IN" dirty="0"/>
              <a:t>.</a:t>
            </a:r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59D04701-ECB2-2E70-C5F0-1B8BE7150A83}"/>
              </a:ext>
            </a:extLst>
          </p:cNvPr>
          <p:cNvSpPr/>
          <p:nvPr/>
        </p:nvSpPr>
        <p:spPr>
          <a:xfrm>
            <a:off x="594359" y="3548742"/>
            <a:ext cx="4310743" cy="18288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To compare how dividend yield </a:t>
            </a:r>
            <a:r>
              <a:rPr lang="en-IN" b="1" dirty="0"/>
              <a:t>varies between sectors</a:t>
            </a:r>
            <a:r>
              <a:rPr lang="en-IN" dirty="0"/>
              <a:t>.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B33EFA-AEB5-64B3-C56B-602C73272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392" y="1447025"/>
            <a:ext cx="5520608" cy="393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9695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09890"/>
            <a:ext cx="7082901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n-US" sz="2800" b="1" dirty="0">
                <a:solidFill>
                  <a:srgbClr val="F5F5F5"/>
                </a:solidFill>
                <a:latin typeface="Aptos"/>
              </a:rPr>
              <a:t>24</a:t>
            </a:r>
            <a:r>
              <a:rPr sz="2800" b="1" dirty="0">
                <a:solidFill>
                  <a:srgbClr val="F5F5F5"/>
                </a:solidFill>
                <a:latin typeface="Aptos"/>
              </a:rPr>
              <a:t>. Data Preparation &amp; Important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1398"/>
            <a:ext cx="4146007" cy="3231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 dirty="0">
                <a:solidFill>
                  <a:srgbClr val="B4B4B4"/>
                </a:solidFill>
                <a:latin typeface="Aptos"/>
              </a:rPr>
              <a:t>Steps taken to keep the dashboard interpretable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34440"/>
            <a:ext cx="10972800" cy="48006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102412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5F5F5"/>
                </a:solidFill>
                <a:latin typeface="Aptos"/>
              </a:defRPr>
            </a:pPr>
            <a:r>
              <a:t>• Percentage-point fields such as Volatility_% and Avg_Daily Return were handled carefully to avoid multiplying values by 100 twice.</a:t>
            </a:r>
          </a:p>
          <a:p>
            <a:pPr>
              <a:spcAft>
                <a:spcPts val="1000"/>
              </a:spcAft>
              <a:defRPr sz="1700">
                <a:solidFill>
                  <a:srgbClr val="F5F5F5"/>
                </a:solidFill>
                <a:latin typeface="Aptos"/>
              </a:defRPr>
            </a:pPr>
            <a:r>
              <a:t>• Beta is a ratio, so it is displayed without a % sign.</a:t>
            </a:r>
          </a:p>
          <a:p>
            <a:pPr>
              <a:spcAft>
                <a:spcPts val="1000"/>
              </a:spcAft>
              <a:defRPr sz="1700">
                <a:solidFill>
                  <a:srgbClr val="F5F5F5"/>
                </a:solidFill>
                <a:latin typeface="Aptos"/>
              </a:defRPr>
            </a:pPr>
            <a:r>
              <a:t>• MA_200 was removed from the dashboard because the available column had blank values.</a:t>
            </a:r>
          </a:p>
          <a:p>
            <a:pPr>
              <a:spcAft>
                <a:spcPts val="1000"/>
              </a:spcAft>
              <a:defRPr sz="1700">
                <a:solidFill>
                  <a:srgbClr val="F5F5F5"/>
                </a:solidFill>
                <a:latin typeface="Aptos"/>
              </a:defRPr>
            </a:pPr>
            <a:r>
              <a:t>• Risk categories were created from volatility: Low Risk &lt; 5%, Medium Risk 5–10%, High Risk &gt; 10%.</a:t>
            </a:r>
          </a:p>
          <a:p>
            <a:pPr>
              <a:spcAft>
                <a:spcPts val="1000"/>
              </a:spcAft>
              <a:defRPr sz="1700">
                <a:solidFill>
                  <a:srgbClr val="F5F5F5"/>
                </a:solidFill>
                <a:latin typeface="Aptos"/>
              </a:defRPr>
            </a:pPr>
            <a:r>
              <a:t>• Company-level KPIs are preferred for company comparisons, while daily fields are used for time-series visuals.</a:t>
            </a:r>
          </a:p>
          <a:p>
            <a:pPr>
              <a:spcAft>
                <a:spcPts val="1000"/>
              </a:spcAft>
              <a:defRPr sz="1700">
                <a:solidFill>
                  <a:srgbClr val="F5F5F5"/>
                </a:solidFill>
                <a:latin typeface="Aptos"/>
              </a:defRPr>
            </a:pPr>
            <a:r>
              <a:t>• Outlier values such as very high volatility are retained and visible because they are part of the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09890"/>
            <a:ext cx="2624436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n-US" sz="2800" b="1" dirty="0">
                <a:solidFill>
                  <a:srgbClr val="F5F5F5"/>
                </a:solidFill>
                <a:latin typeface="Aptos"/>
              </a:rPr>
              <a:t>25</a:t>
            </a:r>
            <a:r>
              <a:rPr sz="2800" b="1" dirty="0">
                <a:solidFill>
                  <a:srgbClr val="F5F5F5"/>
                </a:solidFill>
                <a:latin typeface="Aptos"/>
              </a:rPr>
              <a:t>.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1398"/>
            <a:ext cx="5668924" cy="3231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 dirty="0">
                <a:solidFill>
                  <a:srgbClr val="B4B4B4"/>
                </a:solidFill>
                <a:latin typeface="Aptos"/>
              </a:rPr>
              <a:t>A single interactive report covering performance, risk and valuation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25880"/>
            <a:ext cx="10652760" cy="361188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300" b="1">
                <a:solidFill>
                  <a:srgbClr val="1E90FF"/>
                </a:solidFill>
                <a:latin typeface="Aptos"/>
              </a:rPr>
              <a:t>Project 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5F5F5"/>
                </a:solidFill>
                <a:latin typeface="Aptos"/>
              </a:defRPr>
            </a:pPr>
            <a:r>
              <a:t>• Built a 3-page Power BI dashboard for NIFTY 50 stock analytics.</a:t>
            </a:r>
          </a:p>
          <a:p>
            <a:pPr>
              <a:spcAft>
                <a:spcPts val="1000"/>
              </a:spcAft>
              <a:defRPr sz="1800">
                <a:solidFill>
                  <a:srgbClr val="F5F5F5"/>
                </a:solidFill>
                <a:latin typeface="Aptos"/>
              </a:defRPr>
            </a:pPr>
            <a:r>
              <a:t>• Combined company-level and daily market information into a structured analysis.</a:t>
            </a:r>
          </a:p>
          <a:p>
            <a:pPr>
              <a:spcAft>
                <a:spcPts val="1000"/>
              </a:spcAft>
              <a:defRPr sz="1800">
                <a:solidFill>
                  <a:srgbClr val="F5F5F5"/>
                </a:solidFill>
                <a:latin typeface="Aptos"/>
              </a:defRPr>
            </a:pPr>
            <a:r>
              <a:t>• Used interactive slicers for Company, Year, Month and Sector.</a:t>
            </a:r>
          </a:p>
          <a:p>
            <a:pPr>
              <a:spcAft>
                <a:spcPts val="1000"/>
              </a:spcAft>
              <a:defRPr sz="1800">
                <a:solidFill>
                  <a:srgbClr val="F5F5F5"/>
                </a:solidFill>
                <a:latin typeface="Aptos"/>
              </a:defRPr>
            </a:pPr>
            <a:r>
              <a:t>• Created KPI cards and multiple visual types for easier comparison.</a:t>
            </a:r>
          </a:p>
          <a:p>
            <a:pPr>
              <a:spcAft>
                <a:spcPts val="1000"/>
              </a:spcAft>
              <a:defRPr sz="1800">
                <a:solidFill>
                  <a:srgbClr val="F5F5F5"/>
                </a:solidFill>
                <a:latin typeface="Aptos"/>
              </a:defRPr>
            </a:pPr>
            <a:r>
              <a:t>• Added risk classification and valuation/dividend analysis for deeper insights.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D4DA73-E649-A843-8152-979697A3D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5EBB08B-FADE-54B5-4EBD-4E29FC19E170}"/>
              </a:ext>
            </a:extLst>
          </p:cNvPr>
          <p:cNvSpPr/>
          <p:nvPr/>
        </p:nvSpPr>
        <p:spPr>
          <a:xfrm>
            <a:off x="769620" y="1692421"/>
            <a:ext cx="10652760" cy="361188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2E999C-8613-EFE3-0DCE-7DFC8312098C}"/>
              </a:ext>
            </a:extLst>
          </p:cNvPr>
          <p:cNvSpPr txBox="1"/>
          <p:nvPr/>
        </p:nvSpPr>
        <p:spPr>
          <a:xfrm>
            <a:off x="3949337" y="2270686"/>
            <a:ext cx="4293325" cy="63094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3500" b="1" dirty="0">
                <a:solidFill>
                  <a:srgbClr val="F5F5F5"/>
                </a:solidFill>
                <a:latin typeface="Aptos"/>
              </a:rPr>
              <a:t>Thank You</a:t>
            </a:r>
            <a:endParaRPr sz="3500" b="1" dirty="0">
              <a:solidFill>
                <a:srgbClr val="F5F5F5"/>
              </a:solidFill>
              <a:latin typeface="Apto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8059D0-BD27-9B93-18D0-48091C0853A5}"/>
              </a:ext>
            </a:extLst>
          </p:cNvPr>
          <p:cNvSpPr txBox="1"/>
          <p:nvPr/>
        </p:nvSpPr>
        <p:spPr>
          <a:xfrm>
            <a:off x="3074672" y="3205862"/>
            <a:ext cx="6042654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2300" b="1" dirty="0">
                <a:solidFill>
                  <a:srgbClr val="1E90FF"/>
                </a:solidFill>
                <a:latin typeface="Aptos"/>
              </a:rPr>
              <a:t>Nifty 50 Stock Market Trading Analytics</a:t>
            </a:r>
            <a:endParaRPr sz="2300" b="1" dirty="0">
              <a:solidFill>
                <a:srgbClr val="1E90FF"/>
              </a:solidFill>
              <a:latin typeface="Apto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003EDF-E7B7-1EA8-A7CF-762590AD6113}"/>
              </a:ext>
            </a:extLst>
          </p:cNvPr>
          <p:cNvSpPr txBox="1"/>
          <p:nvPr/>
        </p:nvSpPr>
        <p:spPr>
          <a:xfrm>
            <a:off x="4287882" y="4112459"/>
            <a:ext cx="361623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800">
                <a:solidFill>
                  <a:srgbClr val="F5F5F5"/>
                </a:solidFill>
                <a:latin typeface="Aptos"/>
              </a:defRPr>
            </a:pPr>
            <a:r>
              <a:rPr lang="en-US" dirty="0"/>
              <a:t>Presented by Monika Srinivasan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121D14-8ED9-45B9-EE75-8632D442C0F2}"/>
              </a:ext>
            </a:extLst>
          </p:cNvPr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B4B4B4"/>
                </a:solidFill>
                <a:latin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51348093"/>
      </p:ext>
    </p:extLst>
  </p:cSld>
  <p:clrMapOvr>
    <a:masterClrMapping/>
  </p:clrMapOvr>
</p:sld>
</file>

<file path=ppt/theme/theme1.xml><?xml version="1.0" encoding="utf-8"?>
<a:theme xmlns:a="http://schemas.openxmlformats.org/drawingml/2006/main" name="Dark Gradient">
  <a:themeElements>
    <a:clrScheme name="Dark Gradient">
      <a:dk1>
        <a:sysClr val="windowText" lastClr="000000"/>
      </a:dk1>
      <a:lt1>
        <a:sysClr val="window" lastClr="FFFFFF"/>
      </a:lt1>
      <a:dk2>
        <a:srgbClr val="0B0C12"/>
      </a:dk2>
      <a:lt2>
        <a:srgbClr val="ECF0FB"/>
      </a:lt2>
      <a:accent1>
        <a:srgbClr val="4970FF"/>
      </a:accent1>
      <a:accent2>
        <a:srgbClr val="712ED5"/>
      </a:accent2>
      <a:accent3>
        <a:srgbClr val="00C4B6"/>
      </a:accent3>
      <a:accent4>
        <a:srgbClr val="3633D1"/>
      </a:accent4>
      <a:accent5>
        <a:srgbClr val="4AB1FE"/>
      </a:accent5>
      <a:accent6>
        <a:srgbClr val="9E2FD5"/>
      </a:accent6>
      <a:hlink>
        <a:srgbClr val="4970FF"/>
      </a:hlink>
      <a:folHlink>
        <a:srgbClr val="8E24FF"/>
      </a:folHlink>
    </a:clrScheme>
    <a:fontScheme name="Custom 53">
      <a:majorFont>
        <a:latin typeface="Arial Nova Light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rk gradient" id="{E11C298A-C952-4C7C-AD82-FDE632A020A2}" vid="{C429265E-EED5-40F2-8F51-E02F8E47A73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Dark Gradient</Template>
  <TotalTime>253</TotalTime>
  <Words>1517</Words>
  <Application>Microsoft Office PowerPoint</Application>
  <PresentationFormat>Widescreen</PresentationFormat>
  <Paragraphs>199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Arial</vt:lpstr>
      <vt:lpstr>Arial Nova Light</vt:lpstr>
      <vt:lpstr>Dark Gradient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Monika S</cp:lastModifiedBy>
  <cp:revision>13</cp:revision>
  <dcterms:created xsi:type="dcterms:W3CDTF">2013-01-27T09:14:16Z</dcterms:created>
  <dcterms:modified xsi:type="dcterms:W3CDTF">2026-09-30T11:54:25Z</dcterms:modified>
  <cp:category/>
</cp:coreProperties>
</file>